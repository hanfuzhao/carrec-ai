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CarRec AI, a car recommendation system that uses an LLM to balance relevance with responsibility. The live app and source code are linked on this slide.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Engagement-optimized recommenders create feedback loops. Popular cars get more exposure, become more popular, and crowd out alternatives. A first-time buyer asking for a family SUV does not need to see five Teslas. They need options that fit their budget and expose them to brands they might not have considered.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built a car recommendation system using GPT-4o-mini from OpenAI, adapted to the car domain through prompt engineering and retrieval-augmented generation. The system enforces four real-world constraints: budget compliance as a hard filter, brand diversity through greedy selection, fairness via a scoring boost for niche brands, and cold start handling by parsing preferences from the query itself with zero user history.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strategy has three layers. First, structured retrieval. The LLM never sees the raw query alone. The system parses it to extract budget, use cases, and preferences, then filters a catalog of 70 cars. Only relevant candidates move forward. Second, constraint-aware scoring. Each car is scored on use-case match, preference alignment, budget utilization, and a fairness boost for niche brands. A diversity-aware selection ensures variety. Third, LLM reasoning. GPT-4o-mini generates a personalized reason for each recommendation. When no API key is available, the system falls back to templates and still produces correct recommendations. The LLM enhances the experience but is not a dependency for correctness.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evaluated both modes across 15 test queries. The naive mode, which sorts by popularity, achieved 84 percent budget compliance, meaning 16 percent of recommendations exceeded the user's budget. Brand diversity was stuck at 3, and niche brand exposure was zero. The smart mode achieved 100 percent budget compliance, increased brand diversity to nearly 5 unique brands per query, and brought niche exposure from zero to 60 percent. Relevance more than doubled from 0.38 to 0.79.</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the query 'family SUV under 50k, preferably electric,' the naive mode returns the five most popular cars overall. Two exceed the budget, none are electric SUVs, and all are mainstream brands. The smart mode returns five electric SUVs, all within budget, from three niche brands that the user might not have considered otherwise.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risks to consider. First, catalog bias. My 70-car catalog is curated, and I chose which brands count as niche. A real system would need a larger, continuously updated catalog with data-driven classification. Second, fairness is not neutral. The 1.5-point boost for niche brands is an editorial choice. Third, there is no learning loop. Every session is a cold start with no feedback mechanism. Fourth, LLM hallucination. The LLM generates reasons but does not make the recommendation decision, which is deterministic and auditable. But the reasons could mislead users if the LLM invents attributes. A production system would validate LLM output against structured data.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live app is deployed on Render and accepts natural language queries. The GitHub repository contains the full codebase with a proper branch and PR workflow.</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6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7315200" cy="274320"/>
          </a:xfrm>
          <a:prstGeom prst="rect">
            <a:avLst/>
          </a:prstGeom>
          <a:noFill/>
        </p:spPr>
        <p:txBody>
          <a:bodyPr wrap="square" lIns="0" rIns="0" tIns="0" bIns="0" anchor="t">
            <a:spAutoFit/>
          </a:bodyPr>
          <a:lstStyle/>
          <a:p>
            <a:pPr algn="l">
              <a:lnSpc>
                <a:spcPct val="115000"/>
              </a:lnSpc>
            </a:pPr>
            <a:r>
              <a:rPr sz="1000" b="0" i="0" spc="200">
                <a:solidFill>
                  <a:srgbClr val="8A8070"/>
                </a:solidFill>
                <a:latin typeface="Courier New"/>
              </a:rPr>
              <a:t>01 / Title</a:t>
            </a:r>
          </a:p>
        </p:txBody>
      </p:sp>
      <p:sp>
        <p:nvSpPr>
          <p:cNvPr id="4" name="TextBox 3"/>
          <p:cNvSpPr txBox="1"/>
          <p:nvPr/>
        </p:nvSpPr>
        <p:spPr>
          <a:xfrm>
            <a:off x="10058400" y="411480"/>
            <a:ext cx="1554480" cy="274320"/>
          </a:xfrm>
          <a:prstGeom prst="rect">
            <a:avLst/>
          </a:prstGeom>
          <a:noFill/>
        </p:spPr>
        <p:txBody>
          <a:bodyPr wrap="square" lIns="0" rIns="0" tIns="0" bIns="0" anchor="t">
            <a:spAutoFit/>
          </a:bodyPr>
          <a:lstStyle/>
          <a:p>
            <a:pPr algn="r">
              <a:lnSpc>
                <a:spcPct val="115000"/>
              </a:lnSpc>
            </a:pPr>
            <a:r>
              <a:rPr sz="1000" b="0" i="0" spc="200">
                <a:solidFill>
                  <a:srgbClr val="8A8070"/>
                </a:solidFill>
                <a:latin typeface="Courier New"/>
              </a:rPr>
              <a:t>CarRec AI</a:t>
            </a:r>
          </a:p>
        </p:txBody>
      </p:sp>
      <p:cxnSp>
        <p:nvCxnSpPr>
          <p:cNvPr id="5" name="Connector 4"/>
          <p:cNvCxnSpPr/>
          <p:nvPr/>
        </p:nvCxnSpPr>
        <p:spPr>
          <a:xfrm>
            <a:off x="548640" y="777240"/>
            <a:ext cx="11091672" cy="0"/>
          </a:xfrm>
          <a:prstGeom prst="line">
            <a:avLst/>
          </a:prstGeom>
          <a:ln w="6350">
            <a:solidFill>
              <a:srgbClr val="8A8070"/>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48640" y="1280160"/>
            <a:ext cx="7315200" cy="274320"/>
          </a:xfrm>
          <a:prstGeom prst="rect">
            <a:avLst/>
          </a:prstGeom>
          <a:noFill/>
        </p:spPr>
        <p:txBody>
          <a:bodyPr wrap="square" lIns="0" rIns="0" tIns="0" bIns="0" anchor="t">
            <a:spAutoFit/>
          </a:bodyPr>
          <a:lstStyle/>
          <a:p>
            <a:pPr algn="l">
              <a:lnSpc>
                <a:spcPct val="115000"/>
              </a:lnSpc>
            </a:pPr>
            <a:r>
              <a:rPr sz="1100" b="0" i="0" spc="400">
                <a:solidFill>
                  <a:srgbClr val="C4A35A"/>
                </a:solidFill>
                <a:latin typeface="Courier New"/>
              </a:rPr>
              <a:t>PITCH 2026 / CARREC AI</a:t>
            </a:r>
          </a:p>
        </p:txBody>
      </p:sp>
      <p:sp>
        <p:nvSpPr>
          <p:cNvPr id="7" name="TextBox 6"/>
          <p:cNvSpPr txBox="1"/>
          <p:nvPr/>
        </p:nvSpPr>
        <p:spPr>
          <a:xfrm>
            <a:off x="457200" y="1920240"/>
            <a:ext cx="8229600" cy="2011680"/>
          </a:xfrm>
          <a:prstGeom prst="rect">
            <a:avLst/>
          </a:prstGeom>
          <a:noFill/>
        </p:spPr>
        <p:txBody>
          <a:bodyPr wrap="square" lIns="0" rIns="0" tIns="0" bIns="0" anchor="t">
            <a:spAutoFit/>
          </a:bodyPr>
          <a:lstStyle/>
          <a:p>
            <a:pPr algn="l">
              <a:lnSpc>
                <a:spcPct val="95000"/>
              </a:lnSpc>
            </a:pPr>
            <a:r>
              <a:rPr sz="11000" b="1" i="0">
                <a:solidFill>
                  <a:srgbClr val="EBE5D8"/>
                </a:solidFill>
                <a:latin typeface="Georgia"/>
              </a:rPr>
              <a:t>CarRec</a:t>
            </a:r>
          </a:p>
        </p:txBody>
      </p:sp>
      <p:sp>
        <p:nvSpPr>
          <p:cNvPr id="8" name="TextBox 7"/>
          <p:cNvSpPr txBox="1"/>
          <p:nvPr/>
        </p:nvSpPr>
        <p:spPr>
          <a:xfrm>
            <a:off x="457200" y="3291840"/>
            <a:ext cx="8229600" cy="2011680"/>
          </a:xfrm>
          <a:prstGeom prst="rect">
            <a:avLst/>
          </a:prstGeom>
          <a:noFill/>
        </p:spPr>
        <p:txBody>
          <a:bodyPr wrap="square" lIns="0" rIns="0" tIns="0" bIns="0" anchor="t">
            <a:spAutoFit/>
          </a:bodyPr>
          <a:lstStyle/>
          <a:p>
            <a:pPr algn="l">
              <a:lnSpc>
                <a:spcPct val="95000"/>
              </a:lnSpc>
            </a:pPr>
            <a:r>
              <a:rPr sz="11000" b="1" i="0">
                <a:solidFill>
                  <a:srgbClr val="EBE5D8"/>
                </a:solidFill>
                <a:latin typeface="Georgia"/>
              </a:rPr>
              <a:t>AI.</a:t>
            </a:r>
          </a:p>
        </p:txBody>
      </p:sp>
      <p:sp>
        <p:nvSpPr>
          <p:cNvPr id="9" name="Rectangle 8"/>
          <p:cNvSpPr/>
          <p:nvPr/>
        </p:nvSpPr>
        <p:spPr>
          <a:xfrm>
            <a:off x="548640" y="5074920"/>
            <a:ext cx="457200" cy="54864"/>
          </a:xfrm>
          <a:prstGeom prst="rect">
            <a:avLst/>
          </a:prstGeom>
          <a:solidFill>
            <a:srgbClr val="C836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5257800"/>
            <a:ext cx="7315200" cy="822960"/>
          </a:xfrm>
          <a:prstGeom prst="rect">
            <a:avLst/>
          </a:prstGeom>
          <a:noFill/>
        </p:spPr>
        <p:txBody>
          <a:bodyPr wrap="square" lIns="0" rIns="0" tIns="0" bIns="0" anchor="t">
            <a:spAutoFit/>
          </a:bodyPr>
          <a:lstStyle/>
          <a:p>
            <a:pPr algn="l">
              <a:lnSpc>
                <a:spcPct val="130000"/>
              </a:lnSpc>
            </a:pPr>
            <a:r>
              <a:rPr sz="1500" b="0" i="1">
                <a:solidFill>
                  <a:srgbClr val="EBE5D8"/>
                </a:solidFill>
                <a:latin typeface="Georgia"/>
              </a:rPr>
              <a:t>Recommendations that actually matter. An LLM-powered car</a:t>
            </a:r>
          </a:p>
          <a:p>
            <a:pPr algn="l">
              <a:lnSpc>
                <a:spcPct val="130000"/>
              </a:lnSpc>
            </a:pPr>
            <a:r>
              <a:rPr sz="1500" b="0" i="1">
                <a:solidFill>
                  <a:srgbClr val="EBE5D8"/>
                </a:solidFill>
                <a:latin typeface="Georgia"/>
              </a:rPr>
              <a:t>recommendation system balancing relevance with responsibility.</a:t>
            </a:r>
          </a:p>
        </p:txBody>
      </p:sp>
      <p:sp>
        <p:nvSpPr>
          <p:cNvPr id="11" name="TextBox 10"/>
          <p:cNvSpPr txBox="1"/>
          <p:nvPr/>
        </p:nvSpPr>
        <p:spPr>
          <a:xfrm>
            <a:off x="548640" y="6263640"/>
            <a:ext cx="5486400" cy="274320"/>
          </a:xfrm>
          <a:prstGeom prst="rect">
            <a:avLst/>
          </a:prstGeom>
          <a:noFill/>
        </p:spPr>
        <p:txBody>
          <a:bodyPr wrap="square" lIns="0" rIns="0" tIns="0" bIns="0" anchor="t">
            <a:spAutoFit/>
          </a:bodyPr>
          <a:lstStyle/>
          <a:p>
            <a:pPr algn="l">
              <a:lnSpc>
                <a:spcPct val="115000"/>
              </a:lnSpc>
            </a:pPr>
            <a:r>
              <a:rPr sz="1000" b="0" i="0">
                <a:solidFill>
                  <a:srgbClr val="C4A35A"/>
                </a:solidFill>
                <a:latin typeface="Courier New"/>
              </a:rPr>
              <a:t>github.com/hanfuzhao/carrec-ai</a:t>
            </a:r>
          </a:p>
        </p:txBody>
      </p:sp>
      <p:sp>
        <p:nvSpPr>
          <p:cNvPr id="12" name="TextBox 11"/>
          <p:cNvSpPr txBox="1"/>
          <p:nvPr/>
        </p:nvSpPr>
        <p:spPr>
          <a:xfrm>
            <a:off x="6217920" y="6263640"/>
            <a:ext cx="5486400" cy="274320"/>
          </a:xfrm>
          <a:prstGeom prst="rect">
            <a:avLst/>
          </a:prstGeom>
          <a:noFill/>
        </p:spPr>
        <p:txBody>
          <a:bodyPr wrap="square" lIns="0" rIns="0" tIns="0" bIns="0" anchor="t">
            <a:spAutoFit/>
          </a:bodyPr>
          <a:lstStyle/>
          <a:p>
            <a:pPr algn="r">
              <a:lnSpc>
                <a:spcPct val="115000"/>
              </a:lnSpc>
            </a:pPr>
            <a:r>
              <a:rPr sz="1000" b="0" i="0">
                <a:solidFill>
                  <a:srgbClr val="C4A35A"/>
                </a:solidFill>
                <a:latin typeface="Courier New"/>
              </a:rPr>
              <a:t>carrec-ai.onrender.com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6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5486400" cy="274320"/>
          </a:xfrm>
          <a:prstGeom prst="rect">
            <a:avLst/>
          </a:prstGeom>
          <a:noFill/>
        </p:spPr>
        <p:txBody>
          <a:bodyPr wrap="square" lIns="0" rIns="0" tIns="0" bIns="0" anchor="t">
            <a:spAutoFit/>
          </a:bodyPr>
          <a:lstStyle/>
          <a:p>
            <a:pPr algn="l">
              <a:lnSpc>
                <a:spcPct val="115000"/>
              </a:lnSpc>
            </a:pPr>
            <a:r>
              <a:rPr sz="1000" b="0" i="0" spc="200">
                <a:solidFill>
                  <a:srgbClr val="8A8070"/>
                </a:solidFill>
                <a:latin typeface="Courier New"/>
              </a:rPr>
              <a:t>02 / The Problem</a:t>
            </a:r>
          </a:p>
        </p:txBody>
      </p:sp>
      <p:sp>
        <p:nvSpPr>
          <p:cNvPr id="4" name="TextBox 3"/>
          <p:cNvSpPr txBox="1"/>
          <p:nvPr/>
        </p:nvSpPr>
        <p:spPr>
          <a:xfrm>
            <a:off x="10058400" y="411480"/>
            <a:ext cx="1554480" cy="274320"/>
          </a:xfrm>
          <a:prstGeom prst="rect">
            <a:avLst/>
          </a:prstGeom>
          <a:noFill/>
        </p:spPr>
        <p:txBody>
          <a:bodyPr wrap="square" lIns="0" rIns="0" tIns="0" bIns="0" anchor="t">
            <a:spAutoFit/>
          </a:bodyPr>
          <a:lstStyle/>
          <a:p>
            <a:pPr algn="r">
              <a:lnSpc>
                <a:spcPct val="115000"/>
              </a:lnSpc>
            </a:pPr>
            <a:r>
              <a:rPr sz="1000" b="0" i="0" spc="200">
                <a:solidFill>
                  <a:srgbClr val="8A8070"/>
                </a:solidFill>
                <a:latin typeface="Courier New"/>
              </a:rPr>
              <a:t>CarRec AI</a:t>
            </a:r>
          </a:p>
        </p:txBody>
      </p:sp>
      <p:cxnSp>
        <p:nvCxnSpPr>
          <p:cNvPr id="5" name="Connector 4"/>
          <p:cNvCxnSpPr/>
          <p:nvPr/>
        </p:nvCxnSpPr>
        <p:spPr>
          <a:xfrm>
            <a:off x="548640" y="777240"/>
            <a:ext cx="11091672" cy="0"/>
          </a:xfrm>
          <a:prstGeom prst="line">
            <a:avLst/>
          </a:prstGeom>
          <a:ln w="6350">
            <a:solidFill>
              <a:srgbClr val="8A8070"/>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48640" y="1143000"/>
            <a:ext cx="6583680" cy="365760"/>
          </a:xfrm>
          <a:prstGeom prst="rect">
            <a:avLst/>
          </a:prstGeom>
          <a:noFill/>
        </p:spPr>
        <p:txBody>
          <a:bodyPr wrap="square" lIns="0" rIns="0" tIns="0" bIns="0" anchor="t">
            <a:spAutoFit/>
          </a:bodyPr>
          <a:lstStyle/>
          <a:p>
            <a:pPr algn="l">
              <a:lnSpc>
                <a:spcPct val="115000"/>
              </a:lnSpc>
            </a:pPr>
            <a:r>
              <a:rPr sz="1100" b="0" i="0" spc="400">
                <a:solidFill>
                  <a:srgbClr val="C8362D"/>
                </a:solidFill>
                <a:latin typeface="Courier New"/>
              </a:rPr>
              <a:t>THE PROBLEM</a:t>
            </a:r>
          </a:p>
        </p:txBody>
      </p:sp>
      <p:sp>
        <p:nvSpPr>
          <p:cNvPr id="7" name="TextBox 6"/>
          <p:cNvSpPr txBox="1"/>
          <p:nvPr/>
        </p:nvSpPr>
        <p:spPr>
          <a:xfrm>
            <a:off x="548640" y="1554480"/>
            <a:ext cx="6583680" cy="2377440"/>
          </a:xfrm>
          <a:prstGeom prst="rect">
            <a:avLst/>
          </a:prstGeom>
          <a:noFill/>
        </p:spPr>
        <p:txBody>
          <a:bodyPr wrap="square" lIns="0" rIns="0" tIns="0" bIns="0" anchor="t">
            <a:spAutoFit/>
          </a:bodyPr>
          <a:lstStyle/>
          <a:p>
            <a:pPr algn="l">
              <a:lnSpc>
                <a:spcPct val="105000"/>
              </a:lnSpc>
            </a:pPr>
            <a:r>
              <a:rPr sz="4400" b="1" i="0">
                <a:solidFill>
                  <a:srgbClr val="EBE5D8"/>
                </a:solidFill>
                <a:latin typeface="Georgia"/>
              </a:rPr>
              <a:t>Engagement optimization</a:t>
            </a:r>
          </a:p>
          <a:p>
            <a:pPr algn="l">
              <a:lnSpc>
                <a:spcPct val="105000"/>
              </a:lnSpc>
            </a:pPr>
            <a:r>
              <a:rPr sz="4400" b="1" i="0">
                <a:solidFill>
                  <a:srgbClr val="EBE5D8"/>
                </a:solidFill>
                <a:latin typeface="Georgia"/>
              </a:rPr>
              <a:t>creates feedback loops</a:t>
            </a:r>
          </a:p>
          <a:p>
            <a:pPr algn="l">
              <a:lnSpc>
                <a:spcPct val="105000"/>
              </a:lnSpc>
            </a:pPr>
            <a:r>
              <a:rPr sz="4400" b="1" i="0">
                <a:solidFill>
                  <a:srgbClr val="EBE5D8"/>
                </a:solidFill>
                <a:latin typeface="Georgia"/>
              </a:rPr>
              <a:t>that narrow user</a:t>
            </a:r>
          </a:p>
          <a:p>
            <a:pPr algn="l">
              <a:lnSpc>
                <a:spcPct val="105000"/>
              </a:lnSpc>
            </a:pPr>
            <a:r>
              <a:rPr sz="4400" b="1" i="0">
                <a:solidFill>
                  <a:srgbClr val="EBE5D8"/>
                </a:solidFill>
                <a:latin typeface="Georgia"/>
              </a:rPr>
              <a:t>choice.</a:t>
            </a:r>
          </a:p>
        </p:txBody>
      </p:sp>
      <p:sp>
        <p:nvSpPr>
          <p:cNvPr id="8" name="TextBox 7"/>
          <p:cNvSpPr txBox="1"/>
          <p:nvPr/>
        </p:nvSpPr>
        <p:spPr>
          <a:xfrm>
            <a:off x="548640" y="4297680"/>
            <a:ext cx="6217920" cy="1828800"/>
          </a:xfrm>
          <a:prstGeom prst="rect">
            <a:avLst/>
          </a:prstGeom>
          <a:noFill/>
        </p:spPr>
        <p:txBody>
          <a:bodyPr wrap="square" lIns="0" rIns="0" tIns="0" bIns="0" anchor="t">
            <a:spAutoFit/>
          </a:bodyPr>
          <a:lstStyle/>
          <a:p>
            <a:pPr algn="l">
              <a:lnSpc>
                <a:spcPct val="135000"/>
              </a:lnSpc>
            </a:pPr>
            <a:r>
              <a:rPr sz="1300" b="0" i="1">
                <a:solidFill>
                  <a:srgbClr val="8A8070"/>
                </a:solidFill>
                <a:latin typeface="Georgia"/>
              </a:rPr>
              <a:t>Car platforms like Dongchedi and Edmunds push popular</a:t>
            </a:r>
          </a:p>
          <a:p>
            <a:pPr algn="l">
              <a:lnSpc>
                <a:spcPct val="135000"/>
              </a:lnSpc>
            </a:pPr>
            <a:r>
              <a:rPr sz="1300" b="0" i="1">
                <a:solidFill>
                  <a:srgbClr val="8A8070"/>
                </a:solidFill>
                <a:latin typeface="Georgia"/>
              </a:rPr>
              <a:t>models because popular models get clicks. But a first-time</a:t>
            </a:r>
          </a:p>
          <a:p>
            <a:pPr algn="l">
              <a:lnSpc>
                <a:spcPct val="135000"/>
              </a:lnSpc>
            </a:pPr>
            <a:r>
              <a:rPr sz="1300" b="0" i="1">
                <a:solidFill>
                  <a:srgbClr val="8A8070"/>
                </a:solidFill>
                <a:latin typeface="Georgia"/>
              </a:rPr>
              <a:t>buyer asking for a family SUV does not need to see five</a:t>
            </a:r>
          </a:p>
          <a:p>
            <a:pPr algn="l">
              <a:lnSpc>
                <a:spcPct val="135000"/>
              </a:lnSpc>
            </a:pPr>
            <a:r>
              <a:rPr sz="1300" b="0" i="1">
                <a:solidFill>
                  <a:srgbClr val="8A8070"/>
                </a:solidFill>
                <a:latin typeface="Georgia"/>
              </a:rPr>
              <a:t>Teslas.</a:t>
            </a:r>
          </a:p>
        </p:txBody>
      </p:sp>
      <p:cxnSp>
        <p:nvCxnSpPr>
          <p:cNvPr id="9" name="Connector 8"/>
          <p:cNvCxnSpPr/>
          <p:nvPr/>
        </p:nvCxnSpPr>
        <p:spPr>
          <a:xfrm>
            <a:off x="7406640" y="1143000"/>
            <a:ext cx="18288" cy="0"/>
          </a:xfrm>
          <a:prstGeom prst="line">
            <a:avLst/>
          </a:prstGeom>
          <a:ln w="6350">
            <a:solidFill>
              <a:srgbClr val="8A8070"/>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7680960" y="1280160"/>
            <a:ext cx="548640" cy="274320"/>
          </a:xfrm>
          <a:prstGeom prst="rect">
            <a:avLst/>
          </a:prstGeom>
          <a:noFill/>
        </p:spPr>
        <p:txBody>
          <a:bodyPr wrap="square" lIns="0" rIns="0" tIns="0" bIns="0" anchor="t">
            <a:spAutoFit/>
          </a:bodyPr>
          <a:lstStyle/>
          <a:p>
            <a:pPr algn="l">
              <a:lnSpc>
                <a:spcPct val="115000"/>
              </a:lnSpc>
            </a:pPr>
            <a:r>
              <a:rPr sz="1100" b="0" i="0" spc="200">
                <a:solidFill>
                  <a:srgbClr val="C4A35A"/>
                </a:solidFill>
                <a:latin typeface="Courier New"/>
              </a:rPr>
              <a:t>01</a:t>
            </a:r>
          </a:p>
        </p:txBody>
      </p:sp>
      <p:sp>
        <p:nvSpPr>
          <p:cNvPr id="11" name="TextBox 10"/>
          <p:cNvSpPr txBox="1"/>
          <p:nvPr/>
        </p:nvSpPr>
        <p:spPr>
          <a:xfrm>
            <a:off x="8229600" y="1280160"/>
            <a:ext cx="3383280" cy="914400"/>
          </a:xfrm>
          <a:prstGeom prst="rect">
            <a:avLst/>
          </a:prstGeom>
          <a:noFill/>
        </p:spPr>
        <p:txBody>
          <a:bodyPr wrap="square" lIns="0" rIns="0" tIns="0" bIns="0" anchor="t">
            <a:spAutoFit/>
          </a:bodyPr>
          <a:lstStyle/>
          <a:p>
            <a:pPr algn="l">
              <a:lnSpc>
                <a:spcPct val="130000"/>
              </a:lnSpc>
            </a:pPr>
            <a:r>
              <a:rPr sz="1300" b="0" i="0">
                <a:solidFill>
                  <a:srgbClr val="EBE5D8"/>
                </a:solidFill>
                <a:latin typeface="Georgia"/>
              </a:rPr>
              <a:t>Popular cars get more exposure, become more popular, crowd out alternatives.</a:t>
            </a:r>
          </a:p>
        </p:txBody>
      </p:sp>
      <p:sp>
        <p:nvSpPr>
          <p:cNvPr id="12" name="TextBox 11"/>
          <p:cNvSpPr txBox="1"/>
          <p:nvPr/>
        </p:nvSpPr>
        <p:spPr>
          <a:xfrm>
            <a:off x="7680960" y="2468880"/>
            <a:ext cx="548640" cy="274320"/>
          </a:xfrm>
          <a:prstGeom prst="rect">
            <a:avLst/>
          </a:prstGeom>
          <a:noFill/>
        </p:spPr>
        <p:txBody>
          <a:bodyPr wrap="square" lIns="0" rIns="0" tIns="0" bIns="0" anchor="t">
            <a:spAutoFit/>
          </a:bodyPr>
          <a:lstStyle/>
          <a:p>
            <a:pPr algn="l">
              <a:lnSpc>
                <a:spcPct val="115000"/>
              </a:lnSpc>
            </a:pPr>
            <a:r>
              <a:rPr sz="1100" b="0" i="0" spc="200">
                <a:solidFill>
                  <a:srgbClr val="C4A35A"/>
                </a:solidFill>
                <a:latin typeface="Courier New"/>
              </a:rPr>
              <a:t>02</a:t>
            </a:r>
          </a:p>
        </p:txBody>
      </p:sp>
      <p:sp>
        <p:nvSpPr>
          <p:cNvPr id="13" name="TextBox 12"/>
          <p:cNvSpPr txBox="1"/>
          <p:nvPr/>
        </p:nvSpPr>
        <p:spPr>
          <a:xfrm>
            <a:off x="8229600" y="2468880"/>
            <a:ext cx="3383280" cy="914400"/>
          </a:xfrm>
          <a:prstGeom prst="rect">
            <a:avLst/>
          </a:prstGeom>
          <a:noFill/>
        </p:spPr>
        <p:txBody>
          <a:bodyPr wrap="square" lIns="0" rIns="0" tIns="0" bIns="0" anchor="t">
            <a:spAutoFit/>
          </a:bodyPr>
          <a:lstStyle/>
          <a:p>
            <a:pPr algn="l">
              <a:lnSpc>
                <a:spcPct val="130000"/>
              </a:lnSpc>
            </a:pPr>
            <a:r>
              <a:rPr sz="1300" b="0" i="0">
                <a:solidFill>
                  <a:srgbClr val="EBE5D8"/>
                </a:solidFill>
                <a:latin typeface="Georgia"/>
              </a:rPr>
              <a:t>Niche brands (BYD, NIO, Rivian) get buried even when they fit better.</a:t>
            </a:r>
          </a:p>
        </p:txBody>
      </p:sp>
      <p:sp>
        <p:nvSpPr>
          <p:cNvPr id="14" name="TextBox 13"/>
          <p:cNvSpPr txBox="1"/>
          <p:nvPr/>
        </p:nvSpPr>
        <p:spPr>
          <a:xfrm>
            <a:off x="7680960" y="3657600"/>
            <a:ext cx="548640" cy="274320"/>
          </a:xfrm>
          <a:prstGeom prst="rect">
            <a:avLst/>
          </a:prstGeom>
          <a:noFill/>
        </p:spPr>
        <p:txBody>
          <a:bodyPr wrap="square" lIns="0" rIns="0" tIns="0" bIns="0" anchor="t">
            <a:spAutoFit/>
          </a:bodyPr>
          <a:lstStyle/>
          <a:p>
            <a:pPr algn="l">
              <a:lnSpc>
                <a:spcPct val="115000"/>
              </a:lnSpc>
            </a:pPr>
            <a:r>
              <a:rPr sz="1100" b="0" i="0" spc="200">
                <a:solidFill>
                  <a:srgbClr val="C4A35A"/>
                </a:solidFill>
                <a:latin typeface="Courier New"/>
              </a:rPr>
              <a:t>03</a:t>
            </a:r>
          </a:p>
        </p:txBody>
      </p:sp>
      <p:sp>
        <p:nvSpPr>
          <p:cNvPr id="15" name="TextBox 14"/>
          <p:cNvSpPr txBox="1"/>
          <p:nvPr/>
        </p:nvSpPr>
        <p:spPr>
          <a:xfrm>
            <a:off x="8229600" y="3657600"/>
            <a:ext cx="3383280" cy="914400"/>
          </a:xfrm>
          <a:prstGeom prst="rect">
            <a:avLst/>
          </a:prstGeom>
          <a:noFill/>
        </p:spPr>
        <p:txBody>
          <a:bodyPr wrap="square" lIns="0" rIns="0" tIns="0" bIns="0" anchor="t">
            <a:spAutoFit/>
          </a:bodyPr>
          <a:lstStyle/>
          <a:p>
            <a:pPr algn="l">
              <a:lnSpc>
                <a:spcPct val="130000"/>
              </a:lnSpc>
            </a:pPr>
            <a:r>
              <a:rPr sz="1300" b="0" i="0">
                <a:solidFill>
                  <a:srgbClr val="EBE5D8"/>
                </a:solidFill>
                <a:latin typeface="Georgia"/>
              </a:rPr>
              <a:t>Users see five Teslas when they ask for a family SUV.</a:t>
            </a:r>
          </a:p>
        </p:txBody>
      </p:sp>
      <p:sp>
        <p:nvSpPr>
          <p:cNvPr id="16" name="TextBox 15"/>
          <p:cNvSpPr txBox="1"/>
          <p:nvPr/>
        </p:nvSpPr>
        <p:spPr>
          <a:xfrm>
            <a:off x="7680960" y="4846320"/>
            <a:ext cx="548640" cy="274320"/>
          </a:xfrm>
          <a:prstGeom prst="rect">
            <a:avLst/>
          </a:prstGeom>
          <a:noFill/>
        </p:spPr>
        <p:txBody>
          <a:bodyPr wrap="square" lIns="0" rIns="0" tIns="0" bIns="0" anchor="t">
            <a:spAutoFit/>
          </a:bodyPr>
          <a:lstStyle/>
          <a:p>
            <a:pPr algn="l">
              <a:lnSpc>
                <a:spcPct val="115000"/>
              </a:lnSpc>
            </a:pPr>
            <a:r>
              <a:rPr sz="1100" b="0" i="0" spc="200">
                <a:solidFill>
                  <a:srgbClr val="C4A35A"/>
                </a:solidFill>
                <a:latin typeface="Courier New"/>
              </a:rPr>
              <a:t>04</a:t>
            </a:r>
          </a:p>
        </p:txBody>
      </p:sp>
      <p:sp>
        <p:nvSpPr>
          <p:cNvPr id="17" name="TextBox 16"/>
          <p:cNvSpPr txBox="1"/>
          <p:nvPr/>
        </p:nvSpPr>
        <p:spPr>
          <a:xfrm>
            <a:off x="8229600" y="4846320"/>
            <a:ext cx="3383280" cy="914400"/>
          </a:xfrm>
          <a:prstGeom prst="rect">
            <a:avLst/>
          </a:prstGeom>
          <a:noFill/>
        </p:spPr>
        <p:txBody>
          <a:bodyPr wrap="square" lIns="0" rIns="0" tIns="0" bIns="0" anchor="t">
            <a:spAutoFit/>
          </a:bodyPr>
          <a:lstStyle/>
          <a:p>
            <a:pPr algn="l">
              <a:lnSpc>
                <a:spcPct val="130000"/>
              </a:lnSpc>
            </a:pPr>
            <a:r>
              <a:rPr sz="1300" b="0" i="0">
                <a:solidFill>
                  <a:srgbClr val="EBE5D8"/>
                </a:solidFill>
                <a:latin typeface="Georgia"/>
              </a:rPr>
              <a:t>No budget enforcement, no diversity, no fairness.</a:t>
            </a:r>
          </a:p>
        </p:txBody>
      </p:sp>
      <p:sp>
        <p:nvSpPr>
          <p:cNvPr id="18" name="TextBox 17"/>
          <p:cNvSpPr txBox="1"/>
          <p:nvPr/>
        </p:nvSpPr>
        <p:spPr>
          <a:xfrm>
            <a:off x="548640" y="6446520"/>
            <a:ext cx="5486400" cy="274320"/>
          </a:xfrm>
          <a:prstGeom prst="rect">
            <a:avLst/>
          </a:prstGeom>
          <a:noFill/>
        </p:spPr>
        <p:txBody>
          <a:bodyPr wrap="square" lIns="0" rIns="0" tIns="0" bIns="0" anchor="t">
            <a:spAutoFit/>
          </a:bodyPr>
          <a:lstStyle/>
          <a:p>
            <a:pPr algn="l">
              <a:lnSpc>
                <a:spcPct val="115000"/>
              </a:lnSpc>
            </a:pPr>
            <a:r>
              <a:rPr sz="800" b="0" i="0" spc="100">
                <a:solidFill>
                  <a:srgbClr val="8A8070"/>
                </a:solidFill>
                <a:latin typeface="Courier New"/>
              </a:rPr>
              <a:t>Module 3 Hackathon / Recommendation Systems</a:t>
            </a:r>
          </a:p>
        </p:txBody>
      </p:sp>
      <p:sp>
        <p:nvSpPr>
          <p:cNvPr id="19" name="TextBox 18"/>
          <p:cNvSpPr txBox="1"/>
          <p:nvPr/>
        </p:nvSpPr>
        <p:spPr>
          <a:xfrm>
            <a:off x="10058400" y="6446520"/>
            <a:ext cx="1554480" cy="274320"/>
          </a:xfrm>
          <a:prstGeom prst="rect">
            <a:avLst/>
          </a:prstGeom>
          <a:noFill/>
        </p:spPr>
        <p:txBody>
          <a:bodyPr wrap="square" lIns="0" rIns="0" tIns="0" bIns="0" anchor="t">
            <a:spAutoFit/>
          </a:bodyPr>
          <a:lstStyle/>
          <a:p>
            <a:pPr algn="r">
              <a:lnSpc>
                <a:spcPct val="115000"/>
              </a:lnSpc>
            </a:pPr>
            <a:r>
              <a:rPr sz="800" b="0" i="0" spc="100">
                <a:solidFill>
                  <a:srgbClr val="8A8070"/>
                </a:solidFill>
                <a:latin typeface="Courier New"/>
              </a:rPr>
              <a:t>02 / 08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6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5486400" cy="274320"/>
          </a:xfrm>
          <a:prstGeom prst="rect">
            <a:avLst/>
          </a:prstGeom>
          <a:noFill/>
        </p:spPr>
        <p:txBody>
          <a:bodyPr wrap="square" lIns="0" rIns="0" tIns="0" bIns="0" anchor="t">
            <a:spAutoFit/>
          </a:bodyPr>
          <a:lstStyle/>
          <a:p>
            <a:pPr algn="l">
              <a:lnSpc>
                <a:spcPct val="115000"/>
              </a:lnSpc>
            </a:pPr>
            <a:r>
              <a:rPr sz="1000" b="0" i="0" spc="200">
                <a:solidFill>
                  <a:srgbClr val="8A8070"/>
                </a:solidFill>
                <a:latin typeface="Courier New"/>
              </a:rPr>
              <a:t>03 / What I Built</a:t>
            </a:r>
          </a:p>
        </p:txBody>
      </p:sp>
      <p:sp>
        <p:nvSpPr>
          <p:cNvPr id="4" name="TextBox 3"/>
          <p:cNvSpPr txBox="1"/>
          <p:nvPr/>
        </p:nvSpPr>
        <p:spPr>
          <a:xfrm>
            <a:off x="10058400" y="411480"/>
            <a:ext cx="1554480" cy="274320"/>
          </a:xfrm>
          <a:prstGeom prst="rect">
            <a:avLst/>
          </a:prstGeom>
          <a:noFill/>
        </p:spPr>
        <p:txBody>
          <a:bodyPr wrap="square" lIns="0" rIns="0" tIns="0" bIns="0" anchor="t">
            <a:spAutoFit/>
          </a:bodyPr>
          <a:lstStyle/>
          <a:p>
            <a:pPr algn="r">
              <a:lnSpc>
                <a:spcPct val="115000"/>
              </a:lnSpc>
            </a:pPr>
            <a:r>
              <a:rPr sz="1000" b="0" i="0" spc="200">
                <a:solidFill>
                  <a:srgbClr val="8A8070"/>
                </a:solidFill>
                <a:latin typeface="Courier New"/>
              </a:rPr>
              <a:t>CarRec AI</a:t>
            </a:r>
          </a:p>
        </p:txBody>
      </p:sp>
      <p:cxnSp>
        <p:nvCxnSpPr>
          <p:cNvPr id="5" name="Connector 4"/>
          <p:cNvCxnSpPr/>
          <p:nvPr/>
        </p:nvCxnSpPr>
        <p:spPr>
          <a:xfrm>
            <a:off x="548640" y="777240"/>
            <a:ext cx="11091672" cy="0"/>
          </a:xfrm>
          <a:prstGeom prst="line">
            <a:avLst/>
          </a:prstGeom>
          <a:ln w="6350">
            <a:solidFill>
              <a:srgbClr val="8A8070"/>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48640" y="1143000"/>
            <a:ext cx="7315200" cy="1463040"/>
          </a:xfrm>
          <a:prstGeom prst="rect">
            <a:avLst/>
          </a:prstGeom>
          <a:noFill/>
        </p:spPr>
        <p:txBody>
          <a:bodyPr wrap="square" lIns="0" rIns="0" tIns="0" bIns="0" anchor="t">
            <a:spAutoFit/>
          </a:bodyPr>
          <a:lstStyle/>
          <a:p>
            <a:pPr algn="l">
              <a:lnSpc>
                <a:spcPct val="95000"/>
              </a:lnSpc>
            </a:pPr>
            <a:r>
              <a:rPr sz="6400" b="1" i="0">
                <a:solidFill>
                  <a:srgbClr val="EBE5D8"/>
                </a:solidFill>
                <a:latin typeface="Georgia"/>
              </a:rPr>
              <a:t>What</a:t>
            </a:r>
          </a:p>
          <a:p>
            <a:pPr algn="l">
              <a:lnSpc>
                <a:spcPct val="95000"/>
              </a:lnSpc>
            </a:pPr>
            <a:r>
              <a:rPr sz="6400" b="1" i="0">
                <a:solidFill>
                  <a:srgbClr val="EBE5D8"/>
                </a:solidFill>
                <a:latin typeface="Georgia"/>
              </a:rPr>
              <a:t>I Built.</a:t>
            </a:r>
          </a:p>
        </p:txBody>
      </p:sp>
      <p:sp>
        <p:nvSpPr>
          <p:cNvPr id="7" name="TextBox 6"/>
          <p:cNvSpPr txBox="1"/>
          <p:nvPr/>
        </p:nvSpPr>
        <p:spPr>
          <a:xfrm>
            <a:off x="548640" y="3246120"/>
            <a:ext cx="6858000" cy="914400"/>
          </a:xfrm>
          <a:prstGeom prst="rect">
            <a:avLst/>
          </a:prstGeom>
          <a:noFill/>
        </p:spPr>
        <p:txBody>
          <a:bodyPr wrap="square" lIns="0" rIns="0" tIns="0" bIns="0" anchor="t">
            <a:spAutoFit/>
          </a:bodyPr>
          <a:lstStyle/>
          <a:p>
            <a:pPr algn="l">
              <a:lnSpc>
                <a:spcPct val="130000"/>
              </a:lnSpc>
            </a:pPr>
            <a:r>
              <a:rPr sz="1400" b="0" i="1">
                <a:solidFill>
                  <a:srgbClr val="8A8070"/>
                </a:solidFill>
                <a:latin typeface="Georgia"/>
              </a:rPr>
              <a:t>GPT-4o-mini with retrieval-augmented generation,</a:t>
            </a:r>
          </a:p>
          <a:p>
            <a:pPr algn="l">
              <a:lnSpc>
                <a:spcPct val="130000"/>
              </a:lnSpc>
            </a:pPr>
            <a:r>
              <a:rPr sz="1400" b="0" i="1">
                <a:solidFill>
                  <a:srgbClr val="8A8070"/>
                </a:solidFill>
                <a:latin typeface="Georgia"/>
              </a:rPr>
              <a:t>enforcing four real-world constraints.</a:t>
            </a:r>
          </a:p>
        </p:txBody>
      </p:sp>
      <p:sp>
        <p:nvSpPr>
          <p:cNvPr id="8" name="Rectangle 7"/>
          <p:cNvSpPr/>
          <p:nvPr/>
        </p:nvSpPr>
        <p:spPr>
          <a:xfrm>
            <a:off x="548640" y="4389120"/>
            <a:ext cx="2697480" cy="1828800"/>
          </a:xfrm>
          <a:prstGeom prst="rect">
            <a:avLst/>
          </a:prstGeom>
          <a:solidFill>
            <a:srgbClr val="221D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4526280"/>
            <a:ext cx="2286000" cy="274320"/>
          </a:xfrm>
          <a:prstGeom prst="rect">
            <a:avLst/>
          </a:prstGeom>
          <a:noFill/>
        </p:spPr>
        <p:txBody>
          <a:bodyPr wrap="square" lIns="0" rIns="0" tIns="0" bIns="0" anchor="t">
            <a:spAutoFit/>
          </a:bodyPr>
          <a:lstStyle/>
          <a:p>
            <a:pPr algn="l">
              <a:lnSpc>
                <a:spcPct val="115000"/>
              </a:lnSpc>
            </a:pPr>
            <a:r>
              <a:rPr sz="1100" b="0" i="0" spc="200">
                <a:solidFill>
                  <a:srgbClr val="C4A35A"/>
                </a:solidFill>
                <a:latin typeface="Courier New"/>
              </a:rPr>
              <a:t>01</a:t>
            </a:r>
          </a:p>
        </p:txBody>
      </p:sp>
      <p:sp>
        <p:nvSpPr>
          <p:cNvPr id="10" name="TextBox 9"/>
          <p:cNvSpPr txBox="1"/>
          <p:nvPr/>
        </p:nvSpPr>
        <p:spPr>
          <a:xfrm>
            <a:off x="777240" y="4846320"/>
            <a:ext cx="2286000" cy="822960"/>
          </a:xfrm>
          <a:prstGeom prst="rect">
            <a:avLst/>
          </a:prstGeom>
          <a:noFill/>
        </p:spPr>
        <p:txBody>
          <a:bodyPr wrap="square" lIns="0" rIns="0" tIns="0" bIns="0" anchor="t">
            <a:spAutoFit/>
          </a:bodyPr>
          <a:lstStyle/>
          <a:p>
            <a:pPr algn="l">
              <a:lnSpc>
                <a:spcPct val="100000"/>
              </a:lnSpc>
            </a:pPr>
            <a:r>
              <a:rPr sz="2000" b="1" i="0">
                <a:solidFill>
                  <a:srgbClr val="EBE5D8"/>
                </a:solidFill>
                <a:latin typeface="Georgia"/>
              </a:rPr>
              <a:t>Budget</a:t>
            </a:r>
          </a:p>
          <a:p>
            <a:pPr algn="l">
              <a:lnSpc>
                <a:spcPct val="100000"/>
              </a:lnSpc>
            </a:pPr>
            <a:r>
              <a:rPr sz="2000" b="1" i="0">
                <a:solidFill>
                  <a:srgbClr val="EBE5D8"/>
                </a:solidFill>
                <a:latin typeface="Georgia"/>
              </a:rPr>
              <a:t>Compliance</a:t>
            </a:r>
          </a:p>
        </p:txBody>
      </p:sp>
      <p:sp>
        <p:nvSpPr>
          <p:cNvPr id="11" name="TextBox 10"/>
          <p:cNvSpPr txBox="1"/>
          <p:nvPr/>
        </p:nvSpPr>
        <p:spPr>
          <a:xfrm>
            <a:off x="777240" y="5669280"/>
            <a:ext cx="2286000" cy="548640"/>
          </a:xfrm>
          <a:prstGeom prst="rect">
            <a:avLst/>
          </a:prstGeom>
          <a:noFill/>
        </p:spPr>
        <p:txBody>
          <a:bodyPr wrap="square" lIns="0" rIns="0" tIns="0" bIns="0" anchor="t">
            <a:spAutoFit/>
          </a:bodyPr>
          <a:lstStyle/>
          <a:p>
            <a:pPr algn="l">
              <a:lnSpc>
                <a:spcPct val="125000"/>
              </a:lnSpc>
            </a:pPr>
            <a:r>
              <a:rPr sz="1000" b="0" i="0">
                <a:solidFill>
                  <a:srgbClr val="8A8070"/>
                </a:solidFill>
                <a:latin typeface="Georgia"/>
              </a:rPr>
              <a:t>Hard filter. Never recommends above the user's stated budget.</a:t>
            </a:r>
          </a:p>
        </p:txBody>
      </p:sp>
      <p:sp>
        <p:nvSpPr>
          <p:cNvPr id="12" name="Rectangle 11"/>
          <p:cNvSpPr/>
          <p:nvPr/>
        </p:nvSpPr>
        <p:spPr>
          <a:xfrm>
            <a:off x="3383280" y="4389120"/>
            <a:ext cx="2697480" cy="1828800"/>
          </a:xfrm>
          <a:prstGeom prst="rect">
            <a:avLst/>
          </a:prstGeom>
          <a:solidFill>
            <a:srgbClr val="221D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11880" y="4526280"/>
            <a:ext cx="2286000" cy="274320"/>
          </a:xfrm>
          <a:prstGeom prst="rect">
            <a:avLst/>
          </a:prstGeom>
          <a:noFill/>
        </p:spPr>
        <p:txBody>
          <a:bodyPr wrap="square" lIns="0" rIns="0" tIns="0" bIns="0" anchor="t">
            <a:spAutoFit/>
          </a:bodyPr>
          <a:lstStyle/>
          <a:p>
            <a:pPr algn="l">
              <a:lnSpc>
                <a:spcPct val="115000"/>
              </a:lnSpc>
            </a:pPr>
            <a:r>
              <a:rPr sz="1100" b="0" i="0" spc="200">
                <a:solidFill>
                  <a:srgbClr val="C4A35A"/>
                </a:solidFill>
                <a:latin typeface="Courier New"/>
              </a:rPr>
              <a:t>02</a:t>
            </a:r>
          </a:p>
        </p:txBody>
      </p:sp>
      <p:sp>
        <p:nvSpPr>
          <p:cNvPr id="14" name="TextBox 13"/>
          <p:cNvSpPr txBox="1"/>
          <p:nvPr/>
        </p:nvSpPr>
        <p:spPr>
          <a:xfrm>
            <a:off x="3611880" y="4846320"/>
            <a:ext cx="2286000" cy="822960"/>
          </a:xfrm>
          <a:prstGeom prst="rect">
            <a:avLst/>
          </a:prstGeom>
          <a:noFill/>
        </p:spPr>
        <p:txBody>
          <a:bodyPr wrap="square" lIns="0" rIns="0" tIns="0" bIns="0" anchor="t">
            <a:spAutoFit/>
          </a:bodyPr>
          <a:lstStyle/>
          <a:p>
            <a:pPr algn="l">
              <a:lnSpc>
                <a:spcPct val="100000"/>
              </a:lnSpc>
            </a:pPr>
            <a:r>
              <a:rPr sz="2000" b="1" i="0">
                <a:solidFill>
                  <a:srgbClr val="EBE5D8"/>
                </a:solidFill>
                <a:latin typeface="Georgia"/>
              </a:rPr>
              <a:t>Brand</a:t>
            </a:r>
          </a:p>
          <a:p>
            <a:pPr algn="l">
              <a:lnSpc>
                <a:spcPct val="100000"/>
              </a:lnSpc>
            </a:pPr>
            <a:r>
              <a:rPr sz="2000" b="1" i="0">
                <a:solidFill>
                  <a:srgbClr val="EBE5D8"/>
                </a:solidFill>
                <a:latin typeface="Georgia"/>
              </a:rPr>
              <a:t>Diversity</a:t>
            </a:r>
          </a:p>
        </p:txBody>
      </p:sp>
      <p:sp>
        <p:nvSpPr>
          <p:cNvPr id="15" name="TextBox 14"/>
          <p:cNvSpPr txBox="1"/>
          <p:nvPr/>
        </p:nvSpPr>
        <p:spPr>
          <a:xfrm>
            <a:off x="3611880" y="5669280"/>
            <a:ext cx="2286000" cy="548640"/>
          </a:xfrm>
          <a:prstGeom prst="rect">
            <a:avLst/>
          </a:prstGeom>
          <a:noFill/>
        </p:spPr>
        <p:txBody>
          <a:bodyPr wrap="square" lIns="0" rIns="0" tIns="0" bIns="0" anchor="t">
            <a:spAutoFit/>
          </a:bodyPr>
          <a:lstStyle/>
          <a:p>
            <a:pPr algn="l">
              <a:lnSpc>
                <a:spcPct val="125000"/>
              </a:lnSpc>
            </a:pPr>
            <a:r>
              <a:rPr sz="1000" b="0" i="0">
                <a:solidFill>
                  <a:srgbClr val="8A8070"/>
                </a:solidFill>
                <a:latin typeface="Georgia"/>
              </a:rPr>
              <a:t>Greedy selection penalizing repeated brands to ensure variety.</a:t>
            </a:r>
          </a:p>
        </p:txBody>
      </p:sp>
      <p:sp>
        <p:nvSpPr>
          <p:cNvPr id="16" name="Rectangle 15"/>
          <p:cNvSpPr/>
          <p:nvPr/>
        </p:nvSpPr>
        <p:spPr>
          <a:xfrm>
            <a:off x="6217920" y="4389120"/>
            <a:ext cx="2697480" cy="1828800"/>
          </a:xfrm>
          <a:prstGeom prst="rect">
            <a:avLst/>
          </a:prstGeom>
          <a:solidFill>
            <a:srgbClr val="221D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46520" y="4526280"/>
            <a:ext cx="2286000" cy="274320"/>
          </a:xfrm>
          <a:prstGeom prst="rect">
            <a:avLst/>
          </a:prstGeom>
          <a:noFill/>
        </p:spPr>
        <p:txBody>
          <a:bodyPr wrap="square" lIns="0" rIns="0" tIns="0" bIns="0" anchor="t">
            <a:spAutoFit/>
          </a:bodyPr>
          <a:lstStyle/>
          <a:p>
            <a:pPr algn="l">
              <a:lnSpc>
                <a:spcPct val="115000"/>
              </a:lnSpc>
            </a:pPr>
            <a:r>
              <a:rPr sz="1100" b="0" i="0" spc="200">
                <a:solidFill>
                  <a:srgbClr val="C4A35A"/>
                </a:solidFill>
                <a:latin typeface="Courier New"/>
              </a:rPr>
              <a:t>03</a:t>
            </a:r>
          </a:p>
        </p:txBody>
      </p:sp>
      <p:sp>
        <p:nvSpPr>
          <p:cNvPr id="18" name="TextBox 17"/>
          <p:cNvSpPr txBox="1"/>
          <p:nvPr/>
        </p:nvSpPr>
        <p:spPr>
          <a:xfrm>
            <a:off x="6446520" y="4846320"/>
            <a:ext cx="2286000" cy="822960"/>
          </a:xfrm>
          <a:prstGeom prst="rect">
            <a:avLst/>
          </a:prstGeom>
          <a:noFill/>
        </p:spPr>
        <p:txBody>
          <a:bodyPr wrap="square" lIns="0" rIns="0" tIns="0" bIns="0" anchor="t">
            <a:spAutoFit/>
          </a:bodyPr>
          <a:lstStyle/>
          <a:p>
            <a:pPr algn="l">
              <a:lnSpc>
                <a:spcPct val="100000"/>
              </a:lnSpc>
            </a:pPr>
            <a:r>
              <a:rPr sz="2000" b="1" i="0">
                <a:solidFill>
                  <a:srgbClr val="EBE5D8"/>
                </a:solidFill>
                <a:latin typeface="Georgia"/>
              </a:rPr>
              <a:t>Fairness</a:t>
            </a:r>
          </a:p>
          <a:p>
            <a:pPr algn="l">
              <a:lnSpc>
                <a:spcPct val="100000"/>
              </a:lnSpc>
            </a:pPr>
            <a:r>
              <a:rPr sz="2000" b="1" i="0">
                <a:solidFill>
                  <a:srgbClr val="EBE5D8"/>
                </a:solidFill>
                <a:latin typeface="Georgia"/>
              </a:rPr>
              <a:t>Boost</a:t>
            </a:r>
          </a:p>
        </p:txBody>
      </p:sp>
      <p:sp>
        <p:nvSpPr>
          <p:cNvPr id="19" name="TextBox 18"/>
          <p:cNvSpPr txBox="1"/>
          <p:nvPr/>
        </p:nvSpPr>
        <p:spPr>
          <a:xfrm>
            <a:off x="6446520" y="5669280"/>
            <a:ext cx="2286000" cy="548640"/>
          </a:xfrm>
          <a:prstGeom prst="rect">
            <a:avLst/>
          </a:prstGeom>
          <a:noFill/>
        </p:spPr>
        <p:txBody>
          <a:bodyPr wrap="square" lIns="0" rIns="0" tIns="0" bIns="0" anchor="t">
            <a:spAutoFit/>
          </a:bodyPr>
          <a:lstStyle/>
          <a:p>
            <a:pPr algn="l">
              <a:lnSpc>
                <a:spcPct val="125000"/>
              </a:lnSpc>
            </a:pPr>
            <a:r>
              <a:rPr sz="1000" b="0" i="0">
                <a:solidFill>
                  <a:srgbClr val="8A8070"/>
                </a:solidFill>
                <a:latin typeface="Georgia"/>
              </a:rPr>
              <a:t>Scoring advantage for niche brands to ensure equitable exposure.</a:t>
            </a:r>
          </a:p>
        </p:txBody>
      </p:sp>
      <p:sp>
        <p:nvSpPr>
          <p:cNvPr id="20" name="Rectangle 19"/>
          <p:cNvSpPr/>
          <p:nvPr/>
        </p:nvSpPr>
        <p:spPr>
          <a:xfrm>
            <a:off x="9052560" y="4389120"/>
            <a:ext cx="2697480" cy="1828800"/>
          </a:xfrm>
          <a:prstGeom prst="rect">
            <a:avLst/>
          </a:prstGeom>
          <a:solidFill>
            <a:srgbClr val="221D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81160" y="4526280"/>
            <a:ext cx="2286000" cy="274320"/>
          </a:xfrm>
          <a:prstGeom prst="rect">
            <a:avLst/>
          </a:prstGeom>
          <a:noFill/>
        </p:spPr>
        <p:txBody>
          <a:bodyPr wrap="square" lIns="0" rIns="0" tIns="0" bIns="0" anchor="t">
            <a:spAutoFit/>
          </a:bodyPr>
          <a:lstStyle/>
          <a:p>
            <a:pPr algn="l">
              <a:lnSpc>
                <a:spcPct val="115000"/>
              </a:lnSpc>
            </a:pPr>
            <a:r>
              <a:rPr sz="1100" b="0" i="0" spc="200">
                <a:solidFill>
                  <a:srgbClr val="C4A35A"/>
                </a:solidFill>
                <a:latin typeface="Courier New"/>
              </a:rPr>
              <a:t>04</a:t>
            </a:r>
          </a:p>
        </p:txBody>
      </p:sp>
      <p:sp>
        <p:nvSpPr>
          <p:cNvPr id="22" name="TextBox 21"/>
          <p:cNvSpPr txBox="1"/>
          <p:nvPr/>
        </p:nvSpPr>
        <p:spPr>
          <a:xfrm>
            <a:off x="9281160" y="4846320"/>
            <a:ext cx="2286000" cy="822960"/>
          </a:xfrm>
          <a:prstGeom prst="rect">
            <a:avLst/>
          </a:prstGeom>
          <a:noFill/>
        </p:spPr>
        <p:txBody>
          <a:bodyPr wrap="square" lIns="0" rIns="0" tIns="0" bIns="0" anchor="t">
            <a:spAutoFit/>
          </a:bodyPr>
          <a:lstStyle/>
          <a:p>
            <a:pPr algn="l">
              <a:lnSpc>
                <a:spcPct val="100000"/>
              </a:lnSpc>
            </a:pPr>
            <a:r>
              <a:rPr sz="2000" b="1" i="0">
                <a:solidFill>
                  <a:srgbClr val="EBE5D8"/>
                </a:solidFill>
                <a:latin typeface="Georgia"/>
              </a:rPr>
              <a:t>Cold</a:t>
            </a:r>
          </a:p>
          <a:p>
            <a:pPr algn="l">
              <a:lnSpc>
                <a:spcPct val="100000"/>
              </a:lnSpc>
            </a:pPr>
            <a:r>
              <a:rPr sz="2000" b="1" i="0">
                <a:solidFill>
                  <a:srgbClr val="EBE5D8"/>
                </a:solidFill>
                <a:latin typeface="Georgia"/>
              </a:rPr>
              <a:t>Start</a:t>
            </a:r>
          </a:p>
        </p:txBody>
      </p:sp>
      <p:sp>
        <p:nvSpPr>
          <p:cNvPr id="23" name="TextBox 22"/>
          <p:cNvSpPr txBox="1"/>
          <p:nvPr/>
        </p:nvSpPr>
        <p:spPr>
          <a:xfrm>
            <a:off x="9281160" y="5669280"/>
            <a:ext cx="2286000" cy="548640"/>
          </a:xfrm>
          <a:prstGeom prst="rect">
            <a:avLst/>
          </a:prstGeom>
          <a:noFill/>
        </p:spPr>
        <p:txBody>
          <a:bodyPr wrap="square" lIns="0" rIns="0" tIns="0" bIns="0" anchor="t">
            <a:spAutoFit/>
          </a:bodyPr>
          <a:lstStyle/>
          <a:p>
            <a:pPr algn="l">
              <a:lnSpc>
                <a:spcPct val="125000"/>
              </a:lnSpc>
            </a:pPr>
            <a:r>
              <a:rPr sz="1000" b="0" i="0">
                <a:solidFill>
                  <a:srgbClr val="8A8070"/>
                </a:solidFill>
                <a:latin typeface="Georgia"/>
              </a:rPr>
              <a:t>Preference parsing from natural language. Zero user history needed.</a:t>
            </a:r>
          </a:p>
        </p:txBody>
      </p:sp>
      <p:sp>
        <p:nvSpPr>
          <p:cNvPr id="24" name="TextBox 23"/>
          <p:cNvSpPr txBox="1"/>
          <p:nvPr/>
        </p:nvSpPr>
        <p:spPr>
          <a:xfrm>
            <a:off x="548640" y="6446520"/>
            <a:ext cx="5486400" cy="274320"/>
          </a:xfrm>
          <a:prstGeom prst="rect">
            <a:avLst/>
          </a:prstGeom>
          <a:noFill/>
        </p:spPr>
        <p:txBody>
          <a:bodyPr wrap="square" lIns="0" rIns="0" tIns="0" bIns="0" anchor="t">
            <a:spAutoFit/>
          </a:bodyPr>
          <a:lstStyle/>
          <a:p>
            <a:pPr algn="l">
              <a:lnSpc>
                <a:spcPct val="115000"/>
              </a:lnSpc>
            </a:pPr>
            <a:r>
              <a:rPr sz="800" b="0" i="0" spc="100">
                <a:solidFill>
                  <a:srgbClr val="8A8070"/>
                </a:solidFill>
                <a:latin typeface="Courier New"/>
              </a:rPr>
              <a:t>Module 3 Hackathon / Recommendation Systems</a:t>
            </a:r>
          </a:p>
        </p:txBody>
      </p:sp>
      <p:sp>
        <p:nvSpPr>
          <p:cNvPr id="25" name="TextBox 24"/>
          <p:cNvSpPr txBox="1"/>
          <p:nvPr/>
        </p:nvSpPr>
        <p:spPr>
          <a:xfrm>
            <a:off x="10058400" y="6446520"/>
            <a:ext cx="1554480" cy="274320"/>
          </a:xfrm>
          <a:prstGeom prst="rect">
            <a:avLst/>
          </a:prstGeom>
          <a:noFill/>
        </p:spPr>
        <p:txBody>
          <a:bodyPr wrap="square" lIns="0" rIns="0" tIns="0" bIns="0" anchor="t">
            <a:spAutoFit/>
          </a:bodyPr>
          <a:lstStyle/>
          <a:p>
            <a:pPr algn="r">
              <a:lnSpc>
                <a:spcPct val="115000"/>
              </a:lnSpc>
            </a:pPr>
            <a:r>
              <a:rPr sz="800" b="0" i="0" spc="100">
                <a:solidFill>
                  <a:srgbClr val="8A8070"/>
                </a:solidFill>
                <a:latin typeface="Courier New"/>
              </a:rPr>
              <a:t>03 / 08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6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5486400" cy="274320"/>
          </a:xfrm>
          <a:prstGeom prst="rect">
            <a:avLst/>
          </a:prstGeom>
          <a:noFill/>
        </p:spPr>
        <p:txBody>
          <a:bodyPr wrap="square" lIns="0" rIns="0" tIns="0" bIns="0" anchor="t">
            <a:spAutoFit/>
          </a:bodyPr>
          <a:lstStyle/>
          <a:p>
            <a:pPr algn="l">
              <a:lnSpc>
                <a:spcPct val="115000"/>
              </a:lnSpc>
            </a:pPr>
            <a:r>
              <a:rPr sz="1000" b="0" i="0" spc="200">
                <a:solidFill>
                  <a:srgbClr val="8A8070"/>
                </a:solidFill>
                <a:latin typeface="Courier New"/>
              </a:rPr>
              <a:t>04 / LLM Strategy</a:t>
            </a:r>
          </a:p>
        </p:txBody>
      </p:sp>
      <p:sp>
        <p:nvSpPr>
          <p:cNvPr id="4" name="TextBox 3"/>
          <p:cNvSpPr txBox="1"/>
          <p:nvPr/>
        </p:nvSpPr>
        <p:spPr>
          <a:xfrm>
            <a:off x="10058400" y="411480"/>
            <a:ext cx="1554480" cy="274320"/>
          </a:xfrm>
          <a:prstGeom prst="rect">
            <a:avLst/>
          </a:prstGeom>
          <a:noFill/>
        </p:spPr>
        <p:txBody>
          <a:bodyPr wrap="square" lIns="0" rIns="0" tIns="0" bIns="0" anchor="t">
            <a:spAutoFit/>
          </a:bodyPr>
          <a:lstStyle/>
          <a:p>
            <a:pPr algn="r">
              <a:lnSpc>
                <a:spcPct val="115000"/>
              </a:lnSpc>
            </a:pPr>
            <a:r>
              <a:rPr sz="1000" b="0" i="0" spc="200">
                <a:solidFill>
                  <a:srgbClr val="8A8070"/>
                </a:solidFill>
                <a:latin typeface="Courier New"/>
              </a:rPr>
              <a:t>CarRec AI</a:t>
            </a:r>
          </a:p>
        </p:txBody>
      </p:sp>
      <p:cxnSp>
        <p:nvCxnSpPr>
          <p:cNvPr id="5" name="Connector 4"/>
          <p:cNvCxnSpPr/>
          <p:nvPr/>
        </p:nvCxnSpPr>
        <p:spPr>
          <a:xfrm>
            <a:off x="548640" y="777240"/>
            <a:ext cx="11091672" cy="0"/>
          </a:xfrm>
          <a:prstGeom prst="line">
            <a:avLst/>
          </a:prstGeom>
          <a:ln w="6350">
            <a:solidFill>
              <a:srgbClr val="8A8070"/>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48640" y="1097280"/>
            <a:ext cx="7315200" cy="365760"/>
          </a:xfrm>
          <a:prstGeom prst="rect">
            <a:avLst/>
          </a:prstGeom>
          <a:noFill/>
        </p:spPr>
        <p:txBody>
          <a:bodyPr wrap="square" lIns="0" rIns="0" tIns="0" bIns="0" anchor="t">
            <a:spAutoFit/>
          </a:bodyPr>
          <a:lstStyle/>
          <a:p>
            <a:pPr algn="l">
              <a:lnSpc>
                <a:spcPct val="115000"/>
              </a:lnSpc>
            </a:pPr>
            <a:r>
              <a:rPr sz="1100" b="0" i="0" spc="400">
                <a:solidFill>
                  <a:srgbClr val="C8362D"/>
                </a:solidFill>
                <a:latin typeface="Courier New"/>
              </a:rPr>
              <a:t>04 / LLM STRATEGY</a:t>
            </a:r>
          </a:p>
        </p:txBody>
      </p:sp>
      <p:sp>
        <p:nvSpPr>
          <p:cNvPr id="7" name="TextBox 6"/>
          <p:cNvSpPr txBox="1"/>
          <p:nvPr/>
        </p:nvSpPr>
        <p:spPr>
          <a:xfrm>
            <a:off x="548640" y="1508760"/>
            <a:ext cx="10972800" cy="1097280"/>
          </a:xfrm>
          <a:prstGeom prst="rect">
            <a:avLst/>
          </a:prstGeom>
          <a:noFill/>
        </p:spPr>
        <p:txBody>
          <a:bodyPr wrap="square" lIns="0" rIns="0" tIns="0" bIns="0" anchor="t">
            <a:spAutoFit/>
          </a:bodyPr>
          <a:lstStyle/>
          <a:p>
            <a:pPr algn="l">
              <a:lnSpc>
                <a:spcPct val="100000"/>
              </a:lnSpc>
            </a:pPr>
            <a:r>
              <a:rPr sz="4400" b="1" i="0">
                <a:solidFill>
                  <a:srgbClr val="EBE5D8"/>
                </a:solidFill>
                <a:latin typeface="Georgia"/>
              </a:rPr>
              <a:t>Three layers of adaptation.</a:t>
            </a:r>
          </a:p>
        </p:txBody>
      </p:sp>
      <p:sp>
        <p:nvSpPr>
          <p:cNvPr id="8" name="TextBox 7"/>
          <p:cNvSpPr txBox="1"/>
          <p:nvPr/>
        </p:nvSpPr>
        <p:spPr>
          <a:xfrm>
            <a:off x="548640" y="2743200"/>
            <a:ext cx="731520" cy="365760"/>
          </a:xfrm>
          <a:prstGeom prst="rect">
            <a:avLst/>
          </a:prstGeom>
          <a:noFill/>
        </p:spPr>
        <p:txBody>
          <a:bodyPr wrap="square" lIns="0" rIns="0" tIns="0" bIns="0" anchor="t">
            <a:spAutoFit/>
          </a:bodyPr>
          <a:lstStyle/>
          <a:p>
            <a:pPr algn="l">
              <a:lnSpc>
                <a:spcPct val="115000"/>
              </a:lnSpc>
            </a:pPr>
            <a:r>
              <a:rPr sz="1400" b="0" i="0" spc="300">
                <a:solidFill>
                  <a:srgbClr val="C4A35A"/>
                </a:solidFill>
                <a:latin typeface="Courier New"/>
              </a:rPr>
              <a:t>01</a:t>
            </a:r>
          </a:p>
        </p:txBody>
      </p:sp>
      <p:cxnSp>
        <p:nvCxnSpPr>
          <p:cNvPr id="9" name="Connector 8"/>
          <p:cNvCxnSpPr/>
          <p:nvPr/>
        </p:nvCxnSpPr>
        <p:spPr>
          <a:xfrm>
            <a:off x="1371600" y="2907792"/>
            <a:ext cx="457200" cy="0"/>
          </a:xfrm>
          <a:prstGeom prst="line">
            <a:avLst/>
          </a:prstGeom>
          <a:ln w="19050">
            <a:solidFill>
              <a:srgbClr val="C4A35A"/>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2011680" y="2743200"/>
            <a:ext cx="3200400" cy="457200"/>
          </a:xfrm>
          <a:prstGeom prst="rect">
            <a:avLst/>
          </a:prstGeom>
          <a:noFill/>
        </p:spPr>
        <p:txBody>
          <a:bodyPr wrap="square" lIns="0" rIns="0" tIns="0" bIns="0" anchor="t">
            <a:spAutoFit/>
          </a:bodyPr>
          <a:lstStyle/>
          <a:p>
            <a:pPr algn="l">
              <a:lnSpc>
                <a:spcPct val="115000"/>
              </a:lnSpc>
            </a:pPr>
            <a:r>
              <a:rPr sz="2000" b="1" i="0">
                <a:solidFill>
                  <a:srgbClr val="EBE5D8"/>
                </a:solidFill>
                <a:latin typeface="Georgia"/>
              </a:rPr>
              <a:t>Structured Retrieval</a:t>
            </a:r>
          </a:p>
        </p:txBody>
      </p:sp>
      <p:sp>
        <p:nvSpPr>
          <p:cNvPr id="11" name="TextBox 10"/>
          <p:cNvSpPr txBox="1"/>
          <p:nvPr/>
        </p:nvSpPr>
        <p:spPr>
          <a:xfrm>
            <a:off x="5486400" y="2697480"/>
            <a:ext cx="6217920" cy="1097280"/>
          </a:xfrm>
          <a:prstGeom prst="rect">
            <a:avLst/>
          </a:prstGeom>
          <a:noFill/>
        </p:spPr>
        <p:txBody>
          <a:bodyPr wrap="square" lIns="0" rIns="0" tIns="0" bIns="0" anchor="t">
            <a:spAutoFit/>
          </a:bodyPr>
          <a:lstStyle/>
          <a:p>
            <a:pPr algn="l">
              <a:lnSpc>
                <a:spcPct val="130000"/>
              </a:lnSpc>
            </a:pPr>
            <a:r>
              <a:rPr sz="1200" b="0" i="0">
                <a:solidFill>
                  <a:srgbClr val="8A8070"/>
                </a:solidFill>
                <a:latin typeface="Georgia"/>
              </a:rPr>
              <a:t>Parse query to extract budget, use cases, energy, body, seats. Filter catalog of 70 cars across 27 brands. Only relevant candidates reach the LLM.</a:t>
            </a:r>
          </a:p>
        </p:txBody>
      </p:sp>
      <p:sp>
        <p:nvSpPr>
          <p:cNvPr id="12" name="TextBox 11"/>
          <p:cNvSpPr txBox="1"/>
          <p:nvPr/>
        </p:nvSpPr>
        <p:spPr>
          <a:xfrm>
            <a:off x="548640" y="3886200"/>
            <a:ext cx="731520" cy="365760"/>
          </a:xfrm>
          <a:prstGeom prst="rect">
            <a:avLst/>
          </a:prstGeom>
          <a:noFill/>
        </p:spPr>
        <p:txBody>
          <a:bodyPr wrap="square" lIns="0" rIns="0" tIns="0" bIns="0" anchor="t">
            <a:spAutoFit/>
          </a:bodyPr>
          <a:lstStyle/>
          <a:p>
            <a:pPr algn="l">
              <a:lnSpc>
                <a:spcPct val="115000"/>
              </a:lnSpc>
            </a:pPr>
            <a:r>
              <a:rPr sz="1400" b="0" i="0" spc="300">
                <a:solidFill>
                  <a:srgbClr val="C4A35A"/>
                </a:solidFill>
                <a:latin typeface="Courier New"/>
              </a:rPr>
              <a:t>02</a:t>
            </a:r>
          </a:p>
        </p:txBody>
      </p:sp>
      <p:cxnSp>
        <p:nvCxnSpPr>
          <p:cNvPr id="13" name="Connector 12"/>
          <p:cNvCxnSpPr/>
          <p:nvPr/>
        </p:nvCxnSpPr>
        <p:spPr>
          <a:xfrm>
            <a:off x="1371600" y="4050791"/>
            <a:ext cx="457200" cy="0"/>
          </a:xfrm>
          <a:prstGeom prst="line">
            <a:avLst/>
          </a:prstGeom>
          <a:ln w="19050">
            <a:solidFill>
              <a:srgbClr val="C4A35A"/>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2011680" y="3886200"/>
            <a:ext cx="3200400" cy="457200"/>
          </a:xfrm>
          <a:prstGeom prst="rect">
            <a:avLst/>
          </a:prstGeom>
          <a:noFill/>
        </p:spPr>
        <p:txBody>
          <a:bodyPr wrap="square" lIns="0" rIns="0" tIns="0" bIns="0" anchor="t">
            <a:spAutoFit/>
          </a:bodyPr>
          <a:lstStyle/>
          <a:p>
            <a:pPr algn="l">
              <a:lnSpc>
                <a:spcPct val="115000"/>
              </a:lnSpc>
            </a:pPr>
            <a:r>
              <a:rPr sz="2000" b="1" i="0">
                <a:solidFill>
                  <a:srgbClr val="EBE5D8"/>
                </a:solidFill>
                <a:latin typeface="Georgia"/>
              </a:rPr>
              <a:t>Constraint-Aware Scoring</a:t>
            </a:r>
          </a:p>
        </p:txBody>
      </p:sp>
      <p:sp>
        <p:nvSpPr>
          <p:cNvPr id="15" name="TextBox 14"/>
          <p:cNvSpPr txBox="1"/>
          <p:nvPr/>
        </p:nvSpPr>
        <p:spPr>
          <a:xfrm>
            <a:off x="5486400" y="3840480"/>
            <a:ext cx="6217920" cy="1097280"/>
          </a:xfrm>
          <a:prstGeom prst="rect">
            <a:avLst/>
          </a:prstGeom>
          <a:noFill/>
        </p:spPr>
        <p:txBody>
          <a:bodyPr wrap="square" lIns="0" rIns="0" tIns="0" bIns="0" anchor="t">
            <a:spAutoFit/>
          </a:bodyPr>
          <a:lstStyle/>
          <a:p>
            <a:pPr algn="l">
              <a:lnSpc>
                <a:spcPct val="130000"/>
              </a:lnSpc>
            </a:pPr>
            <a:r>
              <a:rPr sz="1200" b="0" i="0">
                <a:solidFill>
                  <a:srgbClr val="8A8070"/>
                </a:solidFill>
                <a:latin typeface="Georgia"/>
              </a:rPr>
              <a:t>Each car scored on use-case match, preference alignment, budget utilization, and fairness boost. Diversity-aware selection ensures top 5 span multiple brands.</a:t>
            </a:r>
          </a:p>
        </p:txBody>
      </p:sp>
      <p:sp>
        <p:nvSpPr>
          <p:cNvPr id="16" name="TextBox 15"/>
          <p:cNvSpPr txBox="1"/>
          <p:nvPr/>
        </p:nvSpPr>
        <p:spPr>
          <a:xfrm>
            <a:off x="548640" y="5029200"/>
            <a:ext cx="731520" cy="365760"/>
          </a:xfrm>
          <a:prstGeom prst="rect">
            <a:avLst/>
          </a:prstGeom>
          <a:noFill/>
        </p:spPr>
        <p:txBody>
          <a:bodyPr wrap="square" lIns="0" rIns="0" tIns="0" bIns="0" anchor="t">
            <a:spAutoFit/>
          </a:bodyPr>
          <a:lstStyle/>
          <a:p>
            <a:pPr algn="l">
              <a:lnSpc>
                <a:spcPct val="115000"/>
              </a:lnSpc>
            </a:pPr>
            <a:r>
              <a:rPr sz="1400" b="0" i="0" spc="300">
                <a:solidFill>
                  <a:srgbClr val="C4A35A"/>
                </a:solidFill>
                <a:latin typeface="Courier New"/>
              </a:rPr>
              <a:t>03</a:t>
            </a:r>
          </a:p>
        </p:txBody>
      </p:sp>
      <p:cxnSp>
        <p:nvCxnSpPr>
          <p:cNvPr id="17" name="Connector 16"/>
          <p:cNvCxnSpPr/>
          <p:nvPr/>
        </p:nvCxnSpPr>
        <p:spPr>
          <a:xfrm>
            <a:off x="1371600" y="5193792"/>
            <a:ext cx="457200" cy="0"/>
          </a:xfrm>
          <a:prstGeom prst="line">
            <a:avLst/>
          </a:prstGeom>
          <a:ln w="19050">
            <a:solidFill>
              <a:srgbClr val="C4A35A"/>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2011680" y="5029200"/>
            <a:ext cx="3200400" cy="457200"/>
          </a:xfrm>
          <a:prstGeom prst="rect">
            <a:avLst/>
          </a:prstGeom>
          <a:noFill/>
        </p:spPr>
        <p:txBody>
          <a:bodyPr wrap="square" lIns="0" rIns="0" tIns="0" bIns="0" anchor="t">
            <a:spAutoFit/>
          </a:bodyPr>
          <a:lstStyle/>
          <a:p>
            <a:pPr algn="l">
              <a:lnSpc>
                <a:spcPct val="115000"/>
              </a:lnSpc>
            </a:pPr>
            <a:r>
              <a:rPr sz="2000" b="1" i="0">
                <a:solidFill>
                  <a:srgbClr val="EBE5D8"/>
                </a:solidFill>
                <a:latin typeface="Georgia"/>
              </a:rPr>
              <a:t>LLM Reasoning</a:t>
            </a:r>
          </a:p>
        </p:txBody>
      </p:sp>
      <p:sp>
        <p:nvSpPr>
          <p:cNvPr id="19" name="TextBox 18"/>
          <p:cNvSpPr txBox="1"/>
          <p:nvPr/>
        </p:nvSpPr>
        <p:spPr>
          <a:xfrm>
            <a:off x="5486400" y="4983480"/>
            <a:ext cx="6217920" cy="1097280"/>
          </a:xfrm>
          <a:prstGeom prst="rect">
            <a:avLst/>
          </a:prstGeom>
          <a:noFill/>
        </p:spPr>
        <p:txBody>
          <a:bodyPr wrap="square" lIns="0" rIns="0" tIns="0" bIns="0" anchor="t">
            <a:spAutoFit/>
          </a:bodyPr>
          <a:lstStyle/>
          <a:p>
            <a:pPr algn="l">
              <a:lnSpc>
                <a:spcPct val="130000"/>
              </a:lnSpc>
            </a:pPr>
            <a:r>
              <a:rPr sz="1200" b="0" i="0">
                <a:solidFill>
                  <a:srgbClr val="8A8070"/>
                </a:solidFill>
                <a:latin typeface="Georgia"/>
              </a:rPr>
              <a:t>GPT-4o-mini generates personalized 1-2 sentence reasons for each recommendation. Falls back to templates without API key. Correctness never depends on the LLM.</a:t>
            </a:r>
          </a:p>
        </p:txBody>
      </p:sp>
      <p:sp>
        <p:nvSpPr>
          <p:cNvPr id="20" name="TextBox 19"/>
          <p:cNvSpPr txBox="1"/>
          <p:nvPr/>
        </p:nvSpPr>
        <p:spPr>
          <a:xfrm>
            <a:off x="548640" y="6263640"/>
            <a:ext cx="10972800" cy="274320"/>
          </a:xfrm>
          <a:prstGeom prst="rect">
            <a:avLst/>
          </a:prstGeom>
          <a:noFill/>
        </p:spPr>
        <p:txBody>
          <a:bodyPr wrap="square" lIns="0" rIns="0" tIns="0" bIns="0" anchor="t">
            <a:spAutoFit/>
          </a:bodyPr>
          <a:lstStyle/>
          <a:p>
            <a:pPr algn="l">
              <a:lnSpc>
                <a:spcPct val="115000"/>
              </a:lnSpc>
            </a:pPr>
            <a:r>
              <a:rPr sz="1100" b="0" i="1">
                <a:solidFill>
                  <a:srgbClr val="C4A35A"/>
                </a:solidFill>
                <a:latin typeface="Georgia"/>
              </a:rPr>
              <a:t>Adapted via prompt engineering + RAG. No weight modification.</a:t>
            </a:r>
          </a:p>
        </p:txBody>
      </p:sp>
      <p:sp>
        <p:nvSpPr>
          <p:cNvPr id="21" name="TextBox 20"/>
          <p:cNvSpPr txBox="1"/>
          <p:nvPr/>
        </p:nvSpPr>
        <p:spPr>
          <a:xfrm>
            <a:off x="548640" y="6446520"/>
            <a:ext cx="5486400" cy="274320"/>
          </a:xfrm>
          <a:prstGeom prst="rect">
            <a:avLst/>
          </a:prstGeom>
          <a:noFill/>
        </p:spPr>
        <p:txBody>
          <a:bodyPr wrap="square" lIns="0" rIns="0" tIns="0" bIns="0" anchor="t">
            <a:spAutoFit/>
          </a:bodyPr>
          <a:lstStyle/>
          <a:p>
            <a:pPr algn="l">
              <a:lnSpc>
                <a:spcPct val="115000"/>
              </a:lnSpc>
            </a:pPr>
            <a:r>
              <a:rPr sz="800" b="0" i="0" spc="100">
                <a:solidFill>
                  <a:srgbClr val="8A8070"/>
                </a:solidFill>
                <a:latin typeface="Courier New"/>
              </a:rPr>
              <a:t>Module 3 Hackathon / Recommendation Systems</a:t>
            </a:r>
          </a:p>
        </p:txBody>
      </p:sp>
      <p:sp>
        <p:nvSpPr>
          <p:cNvPr id="22" name="TextBox 21"/>
          <p:cNvSpPr txBox="1"/>
          <p:nvPr/>
        </p:nvSpPr>
        <p:spPr>
          <a:xfrm>
            <a:off x="10058400" y="6446520"/>
            <a:ext cx="1554480" cy="274320"/>
          </a:xfrm>
          <a:prstGeom prst="rect">
            <a:avLst/>
          </a:prstGeom>
          <a:noFill/>
        </p:spPr>
        <p:txBody>
          <a:bodyPr wrap="square" lIns="0" rIns="0" tIns="0" bIns="0" anchor="t">
            <a:spAutoFit/>
          </a:bodyPr>
          <a:lstStyle/>
          <a:p>
            <a:pPr algn="r">
              <a:lnSpc>
                <a:spcPct val="115000"/>
              </a:lnSpc>
            </a:pPr>
            <a:r>
              <a:rPr sz="800" b="0" i="0" spc="100">
                <a:solidFill>
                  <a:srgbClr val="8A8070"/>
                </a:solidFill>
                <a:latin typeface="Courier New"/>
              </a:rPr>
              <a:t>04 / 08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6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5486400" cy="274320"/>
          </a:xfrm>
          <a:prstGeom prst="rect">
            <a:avLst/>
          </a:prstGeom>
          <a:noFill/>
        </p:spPr>
        <p:txBody>
          <a:bodyPr wrap="square" lIns="0" rIns="0" tIns="0" bIns="0" anchor="t">
            <a:spAutoFit/>
          </a:bodyPr>
          <a:lstStyle/>
          <a:p>
            <a:pPr algn="l">
              <a:lnSpc>
                <a:spcPct val="115000"/>
              </a:lnSpc>
            </a:pPr>
            <a:r>
              <a:rPr sz="1000" b="0" i="0" spc="200">
                <a:solidFill>
                  <a:srgbClr val="8A8070"/>
                </a:solidFill>
                <a:latin typeface="Courier New"/>
              </a:rPr>
              <a:t>05 / Evaluation</a:t>
            </a:r>
          </a:p>
        </p:txBody>
      </p:sp>
      <p:sp>
        <p:nvSpPr>
          <p:cNvPr id="4" name="TextBox 3"/>
          <p:cNvSpPr txBox="1"/>
          <p:nvPr/>
        </p:nvSpPr>
        <p:spPr>
          <a:xfrm>
            <a:off x="10058400" y="411480"/>
            <a:ext cx="1554480" cy="274320"/>
          </a:xfrm>
          <a:prstGeom prst="rect">
            <a:avLst/>
          </a:prstGeom>
          <a:noFill/>
        </p:spPr>
        <p:txBody>
          <a:bodyPr wrap="square" lIns="0" rIns="0" tIns="0" bIns="0" anchor="t">
            <a:spAutoFit/>
          </a:bodyPr>
          <a:lstStyle/>
          <a:p>
            <a:pPr algn="r">
              <a:lnSpc>
                <a:spcPct val="115000"/>
              </a:lnSpc>
            </a:pPr>
            <a:r>
              <a:rPr sz="1000" b="0" i="0" spc="200">
                <a:solidFill>
                  <a:srgbClr val="8A8070"/>
                </a:solidFill>
                <a:latin typeface="Courier New"/>
              </a:rPr>
              <a:t>CarRec AI</a:t>
            </a:r>
          </a:p>
        </p:txBody>
      </p:sp>
      <p:cxnSp>
        <p:nvCxnSpPr>
          <p:cNvPr id="5" name="Connector 4"/>
          <p:cNvCxnSpPr/>
          <p:nvPr/>
        </p:nvCxnSpPr>
        <p:spPr>
          <a:xfrm>
            <a:off x="548640" y="777240"/>
            <a:ext cx="11091672" cy="0"/>
          </a:xfrm>
          <a:prstGeom prst="line">
            <a:avLst/>
          </a:prstGeom>
          <a:ln w="6350">
            <a:solidFill>
              <a:srgbClr val="8A8070"/>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48640" y="1097280"/>
            <a:ext cx="7315200" cy="365760"/>
          </a:xfrm>
          <a:prstGeom prst="rect">
            <a:avLst/>
          </a:prstGeom>
          <a:noFill/>
        </p:spPr>
        <p:txBody>
          <a:bodyPr wrap="square" lIns="0" rIns="0" tIns="0" bIns="0" anchor="t">
            <a:spAutoFit/>
          </a:bodyPr>
          <a:lstStyle/>
          <a:p>
            <a:pPr algn="l">
              <a:lnSpc>
                <a:spcPct val="115000"/>
              </a:lnSpc>
            </a:pPr>
            <a:r>
              <a:rPr sz="1100" b="0" i="0" spc="400">
                <a:solidFill>
                  <a:srgbClr val="C8362D"/>
                </a:solidFill>
                <a:latin typeface="Courier New"/>
              </a:rPr>
              <a:t>05 / EVALUATION</a:t>
            </a:r>
          </a:p>
        </p:txBody>
      </p:sp>
      <p:sp>
        <p:nvSpPr>
          <p:cNvPr id="7" name="TextBox 6"/>
          <p:cNvSpPr txBox="1"/>
          <p:nvPr/>
        </p:nvSpPr>
        <p:spPr>
          <a:xfrm>
            <a:off x="548640" y="1508760"/>
            <a:ext cx="7315200" cy="1097280"/>
          </a:xfrm>
          <a:prstGeom prst="rect">
            <a:avLst/>
          </a:prstGeom>
          <a:noFill/>
        </p:spPr>
        <p:txBody>
          <a:bodyPr wrap="square" lIns="0" rIns="0" tIns="0" bIns="0" anchor="t">
            <a:spAutoFit/>
          </a:bodyPr>
          <a:lstStyle/>
          <a:p>
            <a:pPr algn="l">
              <a:lnSpc>
                <a:spcPct val="100000"/>
              </a:lnSpc>
            </a:pPr>
            <a:r>
              <a:rPr sz="4800" b="1" i="0">
                <a:solidFill>
                  <a:srgbClr val="EBE5D8"/>
                </a:solidFill>
                <a:latin typeface="Georgia"/>
              </a:rPr>
              <a:t>Before vs. After.</a:t>
            </a:r>
          </a:p>
        </p:txBody>
      </p:sp>
      <p:sp>
        <p:nvSpPr>
          <p:cNvPr id="8" name="TextBox 7"/>
          <p:cNvSpPr txBox="1"/>
          <p:nvPr/>
        </p:nvSpPr>
        <p:spPr>
          <a:xfrm>
            <a:off x="548640" y="2560320"/>
            <a:ext cx="10972800" cy="457200"/>
          </a:xfrm>
          <a:prstGeom prst="rect">
            <a:avLst/>
          </a:prstGeom>
          <a:noFill/>
        </p:spPr>
        <p:txBody>
          <a:bodyPr wrap="square" lIns="0" rIns="0" tIns="0" bIns="0" anchor="t">
            <a:spAutoFit/>
          </a:bodyPr>
          <a:lstStyle/>
          <a:p>
            <a:pPr algn="l">
              <a:lnSpc>
                <a:spcPct val="115000"/>
              </a:lnSpc>
            </a:pPr>
            <a:r>
              <a:rPr sz="1300" b="0" i="1">
                <a:solidFill>
                  <a:srgbClr val="8A8070"/>
                </a:solidFill>
                <a:latin typeface="Georgia"/>
              </a:rPr>
              <a:t>15 test queries covering family, luxury, electric, pickup, and budget use cases.</a:t>
            </a:r>
          </a:p>
        </p:txBody>
      </p:sp>
      <p:sp>
        <p:nvSpPr>
          <p:cNvPr id="9" name="TextBox 8"/>
          <p:cNvSpPr txBox="1"/>
          <p:nvPr/>
        </p:nvSpPr>
        <p:spPr>
          <a:xfrm>
            <a:off x="548640" y="3200400"/>
            <a:ext cx="4206240" cy="365760"/>
          </a:xfrm>
          <a:prstGeom prst="rect">
            <a:avLst/>
          </a:prstGeom>
          <a:noFill/>
        </p:spPr>
        <p:txBody>
          <a:bodyPr wrap="square" lIns="0" rIns="0" tIns="0" bIns="0" anchor="t">
            <a:spAutoFit/>
          </a:bodyPr>
          <a:lstStyle/>
          <a:p>
            <a:pPr algn="l">
              <a:lnSpc>
                <a:spcPct val="115000"/>
              </a:lnSpc>
            </a:pPr>
            <a:r>
              <a:rPr sz="1000" b="0" i="0" spc="200">
                <a:solidFill>
                  <a:srgbClr val="8A8070"/>
                </a:solidFill>
                <a:latin typeface="Courier New"/>
              </a:rPr>
              <a:t>METRIC</a:t>
            </a:r>
          </a:p>
        </p:txBody>
      </p:sp>
      <p:sp>
        <p:nvSpPr>
          <p:cNvPr id="10" name="TextBox 9"/>
          <p:cNvSpPr txBox="1"/>
          <p:nvPr/>
        </p:nvSpPr>
        <p:spPr>
          <a:xfrm>
            <a:off x="4754879" y="3200400"/>
            <a:ext cx="2103120" cy="365760"/>
          </a:xfrm>
          <a:prstGeom prst="rect">
            <a:avLst/>
          </a:prstGeom>
          <a:noFill/>
        </p:spPr>
        <p:txBody>
          <a:bodyPr wrap="square" lIns="0" rIns="0" tIns="0" bIns="0" anchor="t">
            <a:spAutoFit/>
          </a:bodyPr>
          <a:lstStyle/>
          <a:p>
            <a:pPr algn="l">
              <a:lnSpc>
                <a:spcPct val="115000"/>
              </a:lnSpc>
            </a:pPr>
            <a:r>
              <a:rPr sz="1000" b="0" i="0" spc="200">
                <a:solidFill>
                  <a:srgbClr val="8A8070"/>
                </a:solidFill>
                <a:latin typeface="Courier New"/>
              </a:rPr>
              <a:t>NAIVE</a:t>
            </a:r>
          </a:p>
        </p:txBody>
      </p:sp>
      <p:sp>
        <p:nvSpPr>
          <p:cNvPr id="11" name="TextBox 10"/>
          <p:cNvSpPr txBox="1"/>
          <p:nvPr/>
        </p:nvSpPr>
        <p:spPr>
          <a:xfrm>
            <a:off x="6857999" y="3200400"/>
            <a:ext cx="2103120" cy="365760"/>
          </a:xfrm>
          <a:prstGeom prst="rect">
            <a:avLst/>
          </a:prstGeom>
          <a:noFill/>
        </p:spPr>
        <p:txBody>
          <a:bodyPr wrap="square" lIns="0" rIns="0" tIns="0" bIns="0" anchor="t">
            <a:spAutoFit/>
          </a:bodyPr>
          <a:lstStyle/>
          <a:p>
            <a:pPr algn="l">
              <a:lnSpc>
                <a:spcPct val="115000"/>
              </a:lnSpc>
            </a:pPr>
            <a:r>
              <a:rPr sz="1000" b="0" i="0" spc="200">
                <a:solidFill>
                  <a:srgbClr val="8A8070"/>
                </a:solidFill>
                <a:latin typeface="Courier New"/>
              </a:rPr>
              <a:t>SMART</a:t>
            </a:r>
          </a:p>
        </p:txBody>
      </p:sp>
      <p:sp>
        <p:nvSpPr>
          <p:cNvPr id="12" name="TextBox 11"/>
          <p:cNvSpPr txBox="1"/>
          <p:nvPr/>
        </p:nvSpPr>
        <p:spPr>
          <a:xfrm>
            <a:off x="8961119" y="3200400"/>
            <a:ext cx="2679192" cy="365760"/>
          </a:xfrm>
          <a:prstGeom prst="rect">
            <a:avLst/>
          </a:prstGeom>
          <a:noFill/>
        </p:spPr>
        <p:txBody>
          <a:bodyPr wrap="square" lIns="0" rIns="0" tIns="0" bIns="0" anchor="t">
            <a:spAutoFit/>
          </a:bodyPr>
          <a:lstStyle/>
          <a:p>
            <a:pPr algn="l">
              <a:lnSpc>
                <a:spcPct val="115000"/>
              </a:lnSpc>
            </a:pPr>
            <a:r>
              <a:rPr sz="1000" b="0" i="0" spc="200">
                <a:solidFill>
                  <a:srgbClr val="8A8070"/>
                </a:solidFill>
                <a:latin typeface="Courier New"/>
              </a:rPr>
              <a:t>CHANGE</a:t>
            </a:r>
          </a:p>
        </p:txBody>
      </p:sp>
      <p:cxnSp>
        <p:nvCxnSpPr>
          <p:cNvPr id="13" name="Connector 12"/>
          <p:cNvCxnSpPr/>
          <p:nvPr/>
        </p:nvCxnSpPr>
        <p:spPr>
          <a:xfrm>
            <a:off x="548640" y="3566160"/>
            <a:ext cx="11091672" cy="0"/>
          </a:xfrm>
          <a:prstGeom prst="line">
            <a:avLst/>
          </a:prstGeom>
          <a:ln w="12700">
            <a:solidFill>
              <a:srgbClr val="EBE5D8"/>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548640" y="3749039"/>
            <a:ext cx="4206240" cy="502920"/>
          </a:xfrm>
          <a:prstGeom prst="rect">
            <a:avLst/>
          </a:prstGeom>
          <a:noFill/>
        </p:spPr>
        <p:txBody>
          <a:bodyPr wrap="square" lIns="0" rIns="0" tIns="0" bIns="0" anchor="t">
            <a:spAutoFit/>
          </a:bodyPr>
          <a:lstStyle/>
          <a:p>
            <a:pPr algn="l">
              <a:lnSpc>
                <a:spcPct val="115000"/>
              </a:lnSpc>
            </a:pPr>
            <a:r>
              <a:rPr sz="1400" b="0" i="0">
                <a:solidFill>
                  <a:srgbClr val="EBE5D8"/>
                </a:solidFill>
                <a:latin typeface="Georgia"/>
              </a:rPr>
              <a:t>Budget compliance</a:t>
            </a:r>
          </a:p>
        </p:txBody>
      </p:sp>
      <p:sp>
        <p:nvSpPr>
          <p:cNvPr id="15" name="TextBox 14"/>
          <p:cNvSpPr txBox="1"/>
          <p:nvPr/>
        </p:nvSpPr>
        <p:spPr>
          <a:xfrm>
            <a:off x="4754879" y="3749039"/>
            <a:ext cx="2103120" cy="502920"/>
          </a:xfrm>
          <a:prstGeom prst="rect">
            <a:avLst/>
          </a:prstGeom>
          <a:noFill/>
        </p:spPr>
        <p:txBody>
          <a:bodyPr wrap="square" lIns="0" rIns="0" tIns="0" bIns="0" anchor="t">
            <a:spAutoFit/>
          </a:bodyPr>
          <a:lstStyle/>
          <a:p>
            <a:pPr algn="l">
              <a:lnSpc>
                <a:spcPct val="115000"/>
              </a:lnSpc>
            </a:pPr>
            <a:r>
              <a:rPr sz="1400" b="0" i="0">
                <a:solidFill>
                  <a:srgbClr val="8A8070"/>
                </a:solidFill>
                <a:latin typeface="Courier New"/>
              </a:rPr>
              <a:t>84%</a:t>
            </a:r>
          </a:p>
        </p:txBody>
      </p:sp>
      <p:sp>
        <p:nvSpPr>
          <p:cNvPr id="16" name="TextBox 15"/>
          <p:cNvSpPr txBox="1"/>
          <p:nvPr/>
        </p:nvSpPr>
        <p:spPr>
          <a:xfrm>
            <a:off x="6857999" y="3749039"/>
            <a:ext cx="2103120" cy="502920"/>
          </a:xfrm>
          <a:prstGeom prst="rect">
            <a:avLst/>
          </a:prstGeom>
          <a:noFill/>
        </p:spPr>
        <p:txBody>
          <a:bodyPr wrap="square" lIns="0" rIns="0" tIns="0" bIns="0" anchor="t">
            <a:spAutoFit/>
          </a:bodyPr>
          <a:lstStyle/>
          <a:p>
            <a:pPr algn="l">
              <a:lnSpc>
                <a:spcPct val="115000"/>
              </a:lnSpc>
            </a:pPr>
            <a:r>
              <a:rPr sz="1600" b="1" i="0">
                <a:solidFill>
                  <a:srgbClr val="EBE5D8"/>
                </a:solidFill>
                <a:latin typeface="Courier New"/>
              </a:rPr>
              <a:t>100%</a:t>
            </a:r>
          </a:p>
        </p:txBody>
      </p:sp>
      <p:sp>
        <p:nvSpPr>
          <p:cNvPr id="17" name="TextBox 16"/>
          <p:cNvSpPr txBox="1"/>
          <p:nvPr/>
        </p:nvSpPr>
        <p:spPr>
          <a:xfrm>
            <a:off x="8961119" y="3749039"/>
            <a:ext cx="2679192" cy="502920"/>
          </a:xfrm>
          <a:prstGeom prst="rect">
            <a:avLst/>
          </a:prstGeom>
          <a:noFill/>
        </p:spPr>
        <p:txBody>
          <a:bodyPr wrap="square" lIns="0" rIns="0" tIns="0" bIns="0" anchor="t">
            <a:spAutoFit/>
          </a:bodyPr>
          <a:lstStyle/>
          <a:p>
            <a:pPr algn="l">
              <a:lnSpc>
                <a:spcPct val="115000"/>
              </a:lnSpc>
            </a:pPr>
            <a:r>
              <a:rPr sz="1400" b="1" i="0">
                <a:solidFill>
                  <a:srgbClr val="C8362D"/>
                </a:solidFill>
                <a:latin typeface="Courier New"/>
              </a:rPr>
              <a:t>+19%</a:t>
            </a:r>
          </a:p>
        </p:txBody>
      </p:sp>
      <p:cxnSp>
        <p:nvCxnSpPr>
          <p:cNvPr id="18" name="Connector 17"/>
          <p:cNvCxnSpPr/>
          <p:nvPr/>
        </p:nvCxnSpPr>
        <p:spPr>
          <a:xfrm>
            <a:off x="548640" y="4206240"/>
            <a:ext cx="11091672" cy="0"/>
          </a:xfrm>
          <a:prstGeom prst="line">
            <a:avLst/>
          </a:prstGeom>
          <a:ln w="3175">
            <a:solidFill>
              <a:srgbClr val="8A8070"/>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48640" y="4251959"/>
            <a:ext cx="4206240" cy="502920"/>
          </a:xfrm>
          <a:prstGeom prst="rect">
            <a:avLst/>
          </a:prstGeom>
          <a:noFill/>
        </p:spPr>
        <p:txBody>
          <a:bodyPr wrap="square" lIns="0" rIns="0" tIns="0" bIns="0" anchor="t">
            <a:spAutoFit/>
          </a:bodyPr>
          <a:lstStyle/>
          <a:p>
            <a:pPr algn="l">
              <a:lnSpc>
                <a:spcPct val="115000"/>
              </a:lnSpc>
            </a:pPr>
            <a:r>
              <a:rPr sz="1400" b="0" i="0">
                <a:solidFill>
                  <a:srgbClr val="EBE5D8"/>
                </a:solidFill>
                <a:latin typeface="Georgia"/>
              </a:rPr>
              <a:t>Brand diversity</a:t>
            </a:r>
          </a:p>
        </p:txBody>
      </p:sp>
      <p:sp>
        <p:nvSpPr>
          <p:cNvPr id="20" name="TextBox 19"/>
          <p:cNvSpPr txBox="1"/>
          <p:nvPr/>
        </p:nvSpPr>
        <p:spPr>
          <a:xfrm>
            <a:off x="4754879" y="4251959"/>
            <a:ext cx="2103120" cy="502920"/>
          </a:xfrm>
          <a:prstGeom prst="rect">
            <a:avLst/>
          </a:prstGeom>
          <a:noFill/>
        </p:spPr>
        <p:txBody>
          <a:bodyPr wrap="square" lIns="0" rIns="0" tIns="0" bIns="0" anchor="t">
            <a:spAutoFit/>
          </a:bodyPr>
          <a:lstStyle/>
          <a:p>
            <a:pPr algn="l">
              <a:lnSpc>
                <a:spcPct val="115000"/>
              </a:lnSpc>
            </a:pPr>
            <a:r>
              <a:rPr sz="1400" b="0" i="0">
                <a:solidFill>
                  <a:srgbClr val="8A8070"/>
                </a:solidFill>
                <a:latin typeface="Courier New"/>
              </a:rPr>
              <a:t>3.0</a:t>
            </a:r>
          </a:p>
        </p:txBody>
      </p:sp>
      <p:sp>
        <p:nvSpPr>
          <p:cNvPr id="21" name="TextBox 20"/>
          <p:cNvSpPr txBox="1"/>
          <p:nvPr/>
        </p:nvSpPr>
        <p:spPr>
          <a:xfrm>
            <a:off x="6857999" y="4251959"/>
            <a:ext cx="2103120" cy="502920"/>
          </a:xfrm>
          <a:prstGeom prst="rect">
            <a:avLst/>
          </a:prstGeom>
          <a:noFill/>
        </p:spPr>
        <p:txBody>
          <a:bodyPr wrap="square" lIns="0" rIns="0" tIns="0" bIns="0" anchor="t">
            <a:spAutoFit/>
          </a:bodyPr>
          <a:lstStyle/>
          <a:p>
            <a:pPr algn="l">
              <a:lnSpc>
                <a:spcPct val="115000"/>
              </a:lnSpc>
            </a:pPr>
            <a:r>
              <a:rPr sz="1600" b="1" i="0">
                <a:solidFill>
                  <a:srgbClr val="EBE5D8"/>
                </a:solidFill>
                <a:latin typeface="Courier New"/>
              </a:rPr>
              <a:t>4.93</a:t>
            </a:r>
          </a:p>
        </p:txBody>
      </p:sp>
      <p:sp>
        <p:nvSpPr>
          <p:cNvPr id="22" name="TextBox 21"/>
          <p:cNvSpPr txBox="1"/>
          <p:nvPr/>
        </p:nvSpPr>
        <p:spPr>
          <a:xfrm>
            <a:off x="8961119" y="4251959"/>
            <a:ext cx="2679192" cy="502920"/>
          </a:xfrm>
          <a:prstGeom prst="rect">
            <a:avLst/>
          </a:prstGeom>
          <a:noFill/>
        </p:spPr>
        <p:txBody>
          <a:bodyPr wrap="square" lIns="0" rIns="0" tIns="0" bIns="0" anchor="t">
            <a:spAutoFit/>
          </a:bodyPr>
          <a:lstStyle/>
          <a:p>
            <a:pPr algn="l">
              <a:lnSpc>
                <a:spcPct val="115000"/>
              </a:lnSpc>
            </a:pPr>
            <a:r>
              <a:rPr sz="1400" b="1" i="0">
                <a:solidFill>
                  <a:srgbClr val="2D4A2B"/>
                </a:solidFill>
                <a:latin typeface="Courier New"/>
              </a:rPr>
              <a:t>+64%</a:t>
            </a:r>
          </a:p>
        </p:txBody>
      </p:sp>
      <p:cxnSp>
        <p:nvCxnSpPr>
          <p:cNvPr id="23" name="Connector 22"/>
          <p:cNvCxnSpPr/>
          <p:nvPr/>
        </p:nvCxnSpPr>
        <p:spPr>
          <a:xfrm>
            <a:off x="548640" y="4709159"/>
            <a:ext cx="11091672" cy="0"/>
          </a:xfrm>
          <a:prstGeom prst="line">
            <a:avLst/>
          </a:prstGeom>
          <a:ln w="3175">
            <a:solidFill>
              <a:srgbClr val="8A8070"/>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548640" y="4754879"/>
            <a:ext cx="4206240" cy="502920"/>
          </a:xfrm>
          <a:prstGeom prst="rect">
            <a:avLst/>
          </a:prstGeom>
          <a:noFill/>
        </p:spPr>
        <p:txBody>
          <a:bodyPr wrap="square" lIns="0" rIns="0" tIns="0" bIns="0" anchor="t">
            <a:spAutoFit/>
          </a:bodyPr>
          <a:lstStyle/>
          <a:p>
            <a:pPr algn="l">
              <a:lnSpc>
                <a:spcPct val="115000"/>
              </a:lnSpc>
            </a:pPr>
            <a:r>
              <a:rPr sz="1400" b="0" i="0">
                <a:solidFill>
                  <a:srgbClr val="EBE5D8"/>
                </a:solidFill>
                <a:latin typeface="Georgia"/>
              </a:rPr>
              <a:t>Type diversity</a:t>
            </a:r>
          </a:p>
        </p:txBody>
      </p:sp>
      <p:sp>
        <p:nvSpPr>
          <p:cNvPr id="25" name="TextBox 24"/>
          <p:cNvSpPr txBox="1"/>
          <p:nvPr/>
        </p:nvSpPr>
        <p:spPr>
          <a:xfrm>
            <a:off x="4754879" y="4754879"/>
            <a:ext cx="2103120" cy="502920"/>
          </a:xfrm>
          <a:prstGeom prst="rect">
            <a:avLst/>
          </a:prstGeom>
          <a:noFill/>
        </p:spPr>
        <p:txBody>
          <a:bodyPr wrap="square" lIns="0" rIns="0" tIns="0" bIns="0" anchor="t">
            <a:spAutoFit/>
          </a:bodyPr>
          <a:lstStyle/>
          <a:p>
            <a:pPr algn="l">
              <a:lnSpc>
                <a:spcPct val="115000"/>
              </a:lnSpc>
            </a:pPr>
            <a:r>
              <a:rPr sz="1400" b="0" i="0">
                <a:solidFill>
                  <a:srgbClr val="8A8070"/>
                </a:solidFill>
                <a:latin typeface="Courier New"/>
              </a:rPr>
              <a:t>2.0</a:t>
            </a:r>
          </a:p>
        </p:txBody>
      </p:sp>
      <p:sp>
        <p:nvSpPr>
          <p:cNvPr id="26" name="TextBox 25"/>
          <p:cNvSpPr txBox="1"/>
          <p:nvPr/>
        </p:nvSpPr>
        <p:spPr>
          <a:xfrm>
            <a:off x="6857999" y="4754879"/>
            <a:ext cx="2103120" cy="502920"/>
          </a:xfrm>
          <a:prstGeom prst="rect">
            <a:avLst/>
          </a:prstGeom>
          <a:noFill/>
        </p:spPr>
        <p:txBody>
          <a:bodyPr wrap="square" lIns="0" rIns="0" tIns="0" bIns="0" anchor="t">
            <a:spAutoFit/>
          </a:bodyPr>
          <a:lstStyle/>
          <a:p>
            <a:pPr algn="l">
              <a:lnSpc>
                <a:spcPct val="115000"/>
              </a:lnSpc>
            </a:pPr>
            <a:r>
              <a:rPr sz="1600" b="1" i="0">
                <a:solidFill>
                  <a:srgbClr val="EBE5D8"/>
                </a:solidFill>
                <a:latin typeface="Courier New"/>
              </a:rPr>
              <a:t>2.53</a:t>
            </a:r>
          </a:p>
        </p:txBody>
      </p:sp>
      <p:sp>
        <p:nvSpPr>
          <p:cNvPr id="27" name="TextBox 26"/>
          <p:cNvSpPr txBox="1"/>
          <p:nvPr/>
        </p:nvSpPr>
        <p:spPr>
          <a:xfrm>
            <a:off x="8961119" y="4754879"/>
            <a:ext cx="2679192" cy="502920"/>
          </a:xfrm>
          <a:prstGeom prst="rect">
            <a:avLst/>
          </a:prstGeom>
          <a:noFill/>
        </p:spPr>
        <p:txBody>
          <a:bodyPr wrap="square" lIns="0" rIns="0" tIns="0" bIns="0" anchor="t">
            <a:spAutoFit/>
          </a:bodyPr>
          <a:lstStyle/>
          <a:p>
            <a:pPr algn="l">
              <a:lnSpc>
                <a:spcPct val="115000"/>
              </a:lnSpc>
            </a:pPr>
            <a:r>
              <a:rPr sz="1400" b="1" i="0">
                <a:solidFill>
                  <a:srgbClr val="2D4A2B"/>
                </a:solidFill>
                <a:latin typeface="Courier New"/>
              </a:rPr>
              <a:t>+27%</a:t>
            </a:r>
          </a:p>
        </p:txBody>
      </p:sp>
      <p:cxnSp>
        <p:nvCxnSpPr>
          <p:cNvPr id="28" name="Connector 27"/>
          <p:cNvCxnSpPr/>
          <p:nvPr/>
        </p:nvCxnSpPr>
        <p:spPr>
          <a:xfrm>
            <a:off x="548640" y="5212079"/>
            <a:ext cx="11091672" cy="0"/>
          </a:xfrm>
          <a:prstGeom prst="line">
            <a:avLst/>
          </a:prstGeom>
          <a:ln w="3175">
            <a:solidFill>
              <a:srgbClr val="8A8070"/>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5257799"/>
            <a:ext cx="4206240" cy="502920"/>
          </a:xfrm>
          <a:prstGeom prst="rect">
            <a:avLst/>
          </a:prstGeom>
          <a:noFill/>
        </p:spPr>
        <p:txBody>
          <a:bodyPr wrap="square" lIns="0" rIns="0" tIns="0" bIns="0" anchor="t">
            <a:spAutoFit/>
          </a:bodyPr>
          <a:lstStyle/>
          <a:p>
            <a:pPr algn="l">
              <a:lnSpc>
                <a:spcPct val="115000"/>
              </a:lnSpc>
            </a:pPr>
            <a:r>
              <a:rPr sz="1400" b="0" i="0">
                <a:solidFill>
                  <a:srgbClr val="EBE5D8"/>
                </a:solidFill>
                <a:latin typeface="Georgia"/>
              </a:rPr>
              <a:t>Niche exposure</a:t>
            </a:r>
          </a:p>
        </p:txBody>
      </p:sp>
      <p:sp>
        <p:nvSpPr>
          <p:cNvPr id="30" name="TextBox 29"/>
          <p:cNvSpPr txBox="1"/>
          <p:nvPr/>
        </p:nvSpPr>
        <p:spPr>
          <a:xfrm>
            <a:off x="4754879" y="5257799"/>
            <a:ext cx="2103120" cy="502920"/>
          </a:xfrm>
          <a:prstGeom prst="rect">
            <a:avLst/>
          </a:prstGeom>
          <a:noFill/>
        </p:spPr>
        <p:txBody>
          <a:bodyPr wrap="square" lIns="0" rIns="0" tIns="0" bIns="0" anchor="t">
            <a:spAutoFit/>
          </a:bodyPr>
          <a:lstStyle/>
          <a:p>
            <a:pPr algn="l">
              <a:lnSpc>
                <a:spcPct val="115000"/>
              </a:lnSpc>
            </a:pPr>
            <a:r>
              <a:rPr sz="1400" b="0" i="0">
                <a:solidFill>
                  <a:srgbClr val="8A8070"/>
                </a:solidFill>
                <a:latin typeface="Courier New"/>
              </a:rPr>
              <a:t>0%</a:t>
            </a:r>
          </a:p>
        </p:txBody>
      </p:sp>
      <p:sp>
        <p:nvSpPr>
          <p:cNvPr id="31" name="TextBox 30"/>
          <p:cNvSpPr txBox="1"/>
          <p:nvPr/>
        </p:nvSpPr>
        <p:spPr>
          <a:xfrm>
            <a:off x="6857999" y="5257799"/>
            <a:ext cx="2103120" cy="502920"/>
          </a:xfrm>
          <a:prstGeom prst="rect">
            <a:avLst/>
          </a:prstGeom>
          <a:noFill/>
        </p:spPr>
        <p:txBody>
          <a:bodyPr wrap="square" lIns="0" rIns="0" tIns="0" bIns="0" anchor="t">
            <a:spAutoFit/>
          </a:bodyPr>
          <a:lstStyle/>
          <a:p>
            <a:pPr algn="l">
              <a:lnSpc>
                <a:spcPct val="115000"/>
              </a:lnSpc>
            </a:pPr>
            <a:r>
              <a:rPr sz="1600" b="1" i="0">
                <a:solidFill>
                  <a:srgbClr val="EBE5D8"/>
                </a:solidFill>
                <a:latin typeface="Courier New"/>
              </a:rPr>
              <a:t>60%</a:t>
            </a:r>
          </a:p>
        </p:txBody>
      </p:sp>
      <p:sp>
        <p:nvSpPr>
          <p:cNvPr id="32" name="TextBox 31"/>
          <p:cNvSpPr txBox="1"/>
          <p:nvPr/>
        </p:nvSpPr>
        <p:spPr>
          <a:xfrm>
            <a:off x="8961119" y="5257799"/>
            <a:ext cx="2679192" cy="502920"/>
          </a:xfrm>
          <a:prstGeom prst="rect">
            <a:avLst/>
          </a:prstGeom>
          <a:noFill/>
        </p:spPr>
        <p:txBody>
          <a:bodyPr wrap="square" lIns="0" rIns="0" tIns="0" bIns="0" anchor="t">
            <a:spAutoFit/>
          </a:bodyPr>
          <a:lstStyle/>
          <a:p>
            <a:pPr algn="l">
              <a:lnSpc>
                <a:spcPct val="115000"/>
              </a:lnSpc>
            </a:pPr>
            <a:r>
              <a:rPr sz="1400" b="1" i="0">
                <a:solidFill>
                  <a:srgbClr val="C4A35A"/>
                </a:solidFill>
                <a:latin typeface="Courier New"/>
              </a:rPr>
              <a:t>from zero</a:t>
            </a:r>
          </a:p>
        </p:txBody>
      </p:sp>
      <p:cxnSp>
        <p:nvCxnSpPr>
          <p:cNvPr id="33" name="Connector 32"/>
          <p:cNvCxnSpPr/>
          <p:nvPr/>
        </p:nvCxnSpPr>
        <p:spPr>
          <a:xfrm>
            <a:off x="548640" y="5714999"/>
            <a:ext cx="11091672" cy="0"/>
          </a:xfrm>
          <a:prstGeom prst="line">
            <a:avLst/>
          </a:prstGeom>
          <a:ln w="3175">
            <a:solidFill>
              <a:srgbClr val="8A8070"/>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548640" y="5760719"/>
            <a:ext cx="4206240" cy="502920"/>
          </a:xfrm>
          <a:prstGeom prst="rect">
            <a:avLst/>
          </a:prstGeom>
          <a:noFill/>
        </p:spPr>
        <p:txBody>
          <a:bodyPr wrap="square" lIns="0" rIns="0" tIns="0" bIns="0" anchor="t">
            <a:spAutoFit/>
          </a:bodyPr>
          <a:lstStyle/>
          <a:p>
            <a:pPr algn="l">
              <a:lnSpc>
                <a:spcPct val="115000"/>
              </a:lnSpc>
            </a:pPr>
            <a:r>
              <a:rPr sz="1400" b="0" i="0">
                <a:solidFill>
                  <a:srgbClr val="EBE5D8"/>
                </a:solidFill>
                <a:latin typeface="Georgia"/>
              </a:rPr>
              <a:t>Relevance</a:t>
            </a:r>
          </a:p>
        </p:txBody>
      </p:sp>
      <p:sp>
        <p:nvSpPr>
          <p:cNvPr id="35" name="TextBox 34"/>
          <p:cNvSpPr txBox="1"/>
          <p:nvPr/>
        </p:nvSpPr>
        <p:spPr>
          <a:xfrm>
            <a:off x="4754879" y="5760719"/>
            <a:ext cx="2103120" cy="502920"/>
          </a:xfrm>
          <a:prstGeom prst="rect">
            <a:avLst/>
          </a:prstGeom>
          <a:noFill/>
        </p:spPr>
        <p:txBody>
          <a:bodyPr wrap="square" lIns="0" rIns="0" tIns="0" bIns="0" anchor="t">
            <a:spAutoFit/>
          </a:bodyPr>
          <a:lstStyle/>
          <a:p>
            <a:pPr algn="l">
              <a:lnSpc>
                <a:spcPct val="115000"/>
              </a:lnSpc>
            </a:pPr>
            <a:r>
              <a:rPr sz="1400" b="0" i="0">
                <a:solidFill>
                  <a:srgbClr val="8A8070"/>
                </a:solidFill>
                <a:latin typeface="Courier New"/>
              </a:rPr>
              <a:t>0.38</a:t>
            </a:r>
          </a:p>
        </p:txBody>
      </p:sp>
      <p:sp>
        <p:nvSpPr>
          <p:cNvPr id="36" name="TextBox 35"/>
          <p:cNvSpPr txBox="1"/>
          <p:nvPr/>
        </p:nvSpPr>
        <p:spPr>
          <a:xfrm>
            <a:off x="6857999" y="5760719"/>
            <a:ext cx="2103120" cy="502920"/>
          </a:xfrm>
          <a:prstGeom prst="rect">
            <a:avLst/>
          </a:prstGeom>
          <a:noFill/>
        </p:spPr>
        <p:txBody>
          <a:bodyPr wrap="square" lIns="0" rIns="0" tIns="0" bIns="0" anchor="t">
            <a:spAutoFit/>
          </a:bodyPr>
          <a:lstStyle/>
          <a:p>
            <a:pPr algn="l">
              <a:lnSpc>
                <a:spcPct val="115000"/>
              </a:lnSpc>
            </a:pPr>
            <a:r>
              <a:rPr sz="1600" b="1" i="0">
                <a:solidFill>
                  <a:srgbClr val="EBE5D8"/>
                </a:solidFill>
                <a:latin typeface="Courier New"/>
              </a:rPr>
              <a:t>0.79</a:t>
            </a:r>
          </a:p>
        </p:txBody>
      </p:sp>
      <p:sp>
        <p:nvSpPr>
          <p:cNvPr id="37" name="TextBox 36"/>
          <p:cNvSpPr txBox="1"/>
          <p:nvPr/>
        </p:nvSpPr>
        <p:spPr>
          <a:xfrm>
            <a:off x="8961119" y="5760719"/>
            <a:ext cx="2679192" cy="502920"/>
          </a:xfrm>
          <a:prstGeom prst="rect">
            <a:avLst/>
          </a:prstGeom>
          <a:noFill/>
        </p:spPr>
        <p:txBody>
          <a:bodyPr wrap="square" lIns="0" rIns="0" tIns="0" bIns="0" anchor="t">
            <a:spAutoFit/>
          </a:bodyPr>
          <a:lstStyle/>
          <a:p>
            <a:pPr algn="l">
              <a:lnSpc>
                <a:spcPct val="115000"/>
              </a:lnSpc>
            </a:pPr>
            <a:r>
              <a:rPr sz="1400" b="1" i="0">
                <a:solidFill>
                  <a:srgbClr val="C8362D"/>
                </a:solidFill>
                <a:latin typeface="Courier New"/>
              </a:rPr>
              <a:t>+109%</a:t>
            </a:r>
          </a:p>
        </p:txBody>
      </p:sp>
      <p:cxnSp>
        <p:nvCxnSpPr>
          <p:cNvPr id="38" name="Connector 37"/>
          <p:cNvCxnSpPr/>
          <p:nvPr/>
        </p:nvCxnSpPr>
        <p:spPr>
          <a:xfrm>
            <a:off x="548640" y="6217919"/>
            <a:ext cx="11091672" cy="0"/>
          </a:xfrm>
          <a:prstGeom prst="line">
            <a:avLst/>
          </a:prstGeom>
          <a:ln w="3175">
            <a:solidFill>
              <a:srgbClr val="8A8070"/>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548640" y="6446520"/>
            <a:ext cx="5486400" cy="274320"/>
          </a:xfrm>
          <a:prstGeom prst="rect">
            <a:avLst/>
          </a:prstGeom>
          <a:noFill/>
        </p:spPr>
        <p:txBody>
          <a:bodyPr wrap="square" lIns="0" rIns="0" tIns="0" bIns="0" anchor="t">
            <a:spAutoFit/>
          </a:bodyPr>
          <a:lstStyle/>
          <a:p>
            <a:pPr algn="l">
              <a:lnSpc>
                <a:spcPct val="115000"/>
              </a:lnSpc>
            </a:pPr>
            <a:r>
              <a:rPr sz="800" b="0" i="0" spc="100">
                <a:solidFill>
                  <a:srgbClr val="8A8070"/>
                </a:solidFill>
                <a:latin typeface="Courier New"/>
              </a:rPr>
              <a:t>Module 3 Hackathon / Recommendation Systems</a:t>
            </a:r>
          </a:p>
        </p:txBody>
      </p:sp>
      <p:sp>
        <p:nvSpPr>
          <p:cNvPr id="40" name="TextBox 39"/>
          <p:cNvSpPr txBox="1"/>
          <p:nvPr/>
        </p:nvSpPr>
        <p:spPr>
          <a:xfrm>
            <a:off x="10058400" y="6446520"/>
            <a:ext cx="1554480" cy="274320"/>
          </a:xfrm>
          <a:prstGeom prst="rect">
            <a:avLst/>
          </a:prstGeom>
          <a:noFill/>
        </p:spPr>
        <p:txBody>
          <a:bodyPr wrap="square" lIns="0" rIns="0" tIns="0" bIns="0" anchor="t">
            <a:spAutoFit/>
          </a:bodyPr>
          <a:lstStyle/>
          <a:p>
            <a:pPr algn="r">
              <a:lnSpc>
                <a:spcPct val="115000"/>
              </a:lnSpc>
            </a:pPr>
            <a:r>
              <a:rPr sz="800" b="0" i="0" spc="100">
                <a:solidFill>
                  <a:srgbClr val="8A8070"/>
                </a:solidFill>
                <a:latin typeface="Courier New"/>
              </a:rPr>
              <a:t>05 / 08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6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5486400" cy="274320"/>
          </a:xfrm>
          <a:prstGeom prst="rect">
            <a:avLst/>
          </a:prstGeom>
          <a:noFill/>
        </p:spPr>
        <p:txBody>
          <a:bodyPr wrap="square" lIns="0" rIns="0" tIns="0" bIns="0" anchor="t">
            <a:spAutoFit/>
          </a:bodyPr>
          <a:lstStyle/>
          <a:p>
            <a:pPr algn="l">
              <a:lnSpc>
                <a:spcPct val="115000"/>
              </a:lnSpc>
            </a:pPr>
            <a:r>
              <a:rPr sz="1000" b="0" i="0" spc="200">
                <a:solidFill>
                  <a:srgbClr val="8A8070"/>
                </a:solidFill>
                <a:latin typeface="Courier New"/>
              </a:rPr>
              <a:t>06 / Example Query</a:t>
            </a:r>
          </a:p>
        </p:txBody>
      </p:sp>
      <p:sp>
        <p:nvSpPr>
          <p:cNvPr id="4" name="TextBox 3"/>
          <p:cNvSpPr txBox="1"/>
          <p:nvPr/>
        </p:nvSpPr>
        <p:spPr>
          <a:xfrm>
            <a:off x="10058400" y="411480"/>
            <a:ext cx="1554480" cy="274320"/>
          </a:xfrm>
          <a:prstGeom prst="rect">
            <a:avLst/>
          </a:prstGeom>
          <a:noFill/>
        </p:spPr>
        <p:txBody>
          <a:bodyPr wrap="square" lIns="0" rIns="0" tIns="0" bIns="0" anchor="t">
            <a:spAutoFit/>
          </a:bodyPr>
          <a:lstStyle/>
          <a:p>
            <a:pPr algn="r">
              <a:lnSpc>
                <a:spcPct val="115000"/>
              </a:lnSpc>
            </a:pPr>
            <a:r>
              <a:rPr sz="1000" b="0" i="0" spc="200">
                <a:solidFill>
                  <a:srgbClr val="8A8070"/>
                </a:solidFill>
                <a:latin typeface="Courier New"/>
              </a:rPr>
              <a:t>CarRec AI</a:t>
            </a:r>
          </a:p>
        </p:txBody>
      </p:sp>
      <p:cxnSp>
        <p:nvCxnSpPr>
          <p:cNvPr id="5" name="Connector 4"/>
          <p:cNvCxnSpPr/>
          <p:nvPr/>
        </p:nvCxnSpPr>
        <p:spPr>
          <a:xfrm>
            <a:off x="548640" y="777240"/>
            <a:ext cx="11091672" cy="0"/>
          </a:xfrm>
          <a:prstGeom prst="line">
            <a:avLst/>
          </a:prstGeom>
          <a:ln w="6350">
            <a:solidFill>
              <a:srgbClr val="8A8070"/>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48640" y="1188720"/>
            <a:ext cx="10972800" cy="365760"/>
          </a:xfrm>
          <a:prstGeom prst="rect">
            <a:avLst/>
          </a:prstGeom>
          <a:noFill/>
        </p:spPr>
        <p:txBody>
          <a:bodyPr wrap="square" lIns="0" rIns="0" tIns="0" bIns="0" anchor="t">
            <a:spAutoFit/>
          </a:bodyPr>
          <a:lstStyle/>
          <a:p>
            <a:pPr algn="l">
              <a:lnSpc>
                <a:spcPct val="115000"/>
              </a:lnSpc>
            </a:pPr>
            <a:r>
              <a:rPr sz="1100" b="0" i="0" spc="400">
                <a:solidFill>
                  <a:srgbClr val="C8362D"/>
                </a:solidFill>
                <a:latin typeface="Courier New"/>
              </a:rPr>
              <a:t>06 / EXAMPLE QUERY</a:t>
            </a:r>
          </a:p>
        </p:txBody>
      </p:sp>
      <p:sp>
        <p:nvSpPr>
          <p:cNvPr id="7" name="TextBox 6"/>
          <p:cNvSpPr txBox="1"/>
          <p:nvPr/>
        </p:nvSpPr>
        <p:spPr>
          <a:xfrm>
            <a:off x="548640" y="1645920"/>
            <a:ext cx="10972800" cy="914400"/>
          </a:xfrm>
          <a:prstGeom prst="rect">
            <a:avLst/>
          </a:prstGeom>
          <a:noFill/>
        </p:spPr>
        <p:txBody>
          <a:bodyPr wrap="square" lIns="0" rIns="0" tIns="0" bIns="0" anchor="t">
            <a:spAutoFit/>
          </a:bodyPr>
          <a:lstStyle/>
          <a:p>
            <a:pPr algn="l">
              <a:lnSpc>
                <a:spcPct val="115000"/>
              </a:lnSpc>
            </a:pPr>
            <a:r>
              <a:rPr sz="2600" b="1" i="1">
                <a:solidFill>
                  <a:srgbClr val="EBE5D8"/>
                </a:solidFill>
                <a:latin typeface="Georgia"/>
              </a:rPr>
              <a:t>“I need a family SUV under $50k, preferably electric”</a:t>
            </a:r>
          </a:p>
        </p:txBody>
      </p:sp>
      <p:sp>
        <p:nvSpPr>
          <p:cNvPr id="8" name="Rectangle 7"/>
          <p:cNvSpPr/>
          <p:nvPr/>
        </p:nvSpPr>
        <p:spPr>
          <a:xfrm>
            <a:off x="548640" y="2834640"/>
            <a:ext cx="5394960" cy="3291840"/>
          </a:xfrm>
          <a:prstGeom prst="rect">
            <a:avLst/>
          </a:prstGeom>
          <a:solidFill>
            <a:srgbClr val="221D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3017520"/>
            <a:ext cx="5029200" cy="365760"/>
          </a:xfrm>
          <a:prstGeom prst="rect">
            <a:avLst/>
          </a:prstGeom>
          <a:noFill/>
        </p:spPr>
        <p:txBody>
          <a:bodyPr wrap="square" lIns="0" rIns="0" tIns="0" bIns="0" anchor="t">
            <a:spAutoFit/>
          </a:bodyPr>
          <a:lstStyle/>
          <a:p>
            <a:pPr algn="l">
              <a:lnSpc>
                <a:spcPct val="115000"/>
              </a:lnSpc>
            </a:pPr>
            <a:r>
              <a:rPr sz="1100" b="0" i="0" spc="300">
                <a:solidFill>
                  <a:srgbClr val="8A8070"/>
                </a:solidFill>
                <a:latin typeface="Courier New"/>
              </a:rPr>
              <a:t>BEFORE / NAIVE</a:t>
            </a:r>
          </a:p>
        </p:txBody>
      </p:sp>
      <p:cxnSp>
        <p:nvCxnSpPr>
          <p:cNvPr id="10" name="Connector 9"/>
          <p:cNvCxnSpPr/>
          <p:nvPr/>
        </p:nvCxnSpPr>
        <p:spPr>
          <a:xfrm>
            <a:off x="777240" y="3429000"/>
            <a:ext cx="4937760" cy="0"/>
          </a:xfrm>
          <a:prstGeom prst="line">
            <a:avLst/>
          </a:prstGeom>
          <a:ln w="6350">
            <a:solidFill>
              <a:srgbClr val="8A8070"/>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777240" y="3611880"/>
            <a:ext cx="3657600" cy="320040"/>
          </a:xfrm>
          <a:prstGeom prst="rect">
            <a:avLst/>
          </a:prstGeom>
          <a:noFill/>
        </p:spPr>
        <p:txBody>
          <a:bodyPr wrap="square" lIns="0" rIns="0" tIns="0" bIns="0" anchor="t">
            <a:spAutoFit/>
          </a:bodyPr>
          <a:lstStyle/>
          <a:p>
            <a:pPr algn="l">
              <a:lnSpc>
                <a:spcPct val="115000"/>
              </a:lnSpc>
            </a:pPr>
            <a:r>
              <a:rPr sz="1300" b="0" i="0">
                <a:solidFill>
                  <a:srgbClr val="EBE5D8"/>
                </a:solidFill>
                <a:latin typeface="Georgia"/>
              </a:rPr>
              <a:t>Tesla Model Y</a:t>
            </a:r>
          </a:p>
        </p:txBody>
      </p:sp>
      <p:sp>
        <p:nvSpPr>
          <p:cNvPr id="12" name="TextBox 11"/>
          <p:cNvSpPr txBox="1"/>
          <p:nvPr/>
        </p:nvSpPr>
        <p:spPr>
          <a:xfrm>
            <a:off x="4434840" y="3611880"/>
            <a:ext cx="1280160" cy="320040"/>
          </a:xfrm>
          <a:prstGeom prst="rect">
            <a:avLst/>
          </a:prstGeom>
          <a:noFill/>
        </p:spPr>
        <p:txBody>
          <a:bodyPr wrap="square" lIns="0" rIns="0" tIns="0" bIns="0" anchor="t">
            <a:spAutoFit/>
          </a:bodyPr>
          <a:lstStyle/>
          <a:p>
            <a:pPr algn="r">
              <a:lnSpc>
                <a:spcPct val="115000"/>
              </a:lnSpc>
            </a:pPr>
            <a:r>
              <a:rPr sz="1200" b="0" i="0">
                <a:solidFill>
                  <a:srgbClr val="8A8070"/>
                </a:solidFill>
                <a:latin typeface="Courier New"/>
              </a:rPr>
              <a:t>$54k</a:t>
            </a:r>
          </a:p>
        </p:txBody>
      </p:sp>
      <p:sp>
        <p:nvSpPr>
          <p:cNvPr id="13" name="TextBox 12"/>
          <p:cNvSpPr txBox="1"/>
          <p:nvPr/>
        </p:nvSpPr>
        <p:spPr>
          <a:xfrm>
            <a:off x="777240" y="3977640"/>
            <a:ext cx="3657600" cy="320040"/>
          </a:xfrm>
          <a:prstGeom prst="rect">
            <a:avLst/>
          </a:prstGeom>
          <a:noFill/>
        </p:spPr>
        <p:txBody>
          <a:bodyPr wrap="square" lIns="0" rIns="0" tIns="0" bIns="0" anchor="t">
            <a:spAutoFit/>
          </a:bodyPr>
          <a:lstStyle/>
          <a:p>
            <a:pPr algn="l">
              <a:lnSpc>
                <a:spcPct val="115000"/>
              </a:lnSpc>
            </a:pPr>
            <a:r>
              <a:rPr sz="1300" b="0" i="0">
                <a:solidFill>
                  <a:srgbClr val="EBE5D8"/>
                </a:solidFill>
                <a:latin typeface="Georgia"/>
              </a:rPr>
              <a:t>Tesla Model 3</a:t>
            </a:r>
          </a:p>
        </p:txBody>
      </p:sp>
      <p:sp>
        <p:nvSpPr>
          <p:cNvPr id="14" name="TextBox 13"/>
          <p:cNvSpPr txBox="1"/>
          <p:nvPr/>
        </p:nvSpPr>
        <p:spPr>
          <a:xfrm>
            <a:off x="4434840" y="3977640"/>
            <a:ext cx="1280160" cy="320040"/>
          </a:xfrm>
          <a:prstGeom prst="rect">
            <a:avLst/>
          </a:prstGeom>
          <a:noFill/>
        </p:spPr>
        <p:txBody>
          <a:bodyPr wrap="square" lIns="0" rIns="0" tIns="0" bIns="0" anchor="t">
            <a:spAutoFit/>
          </a:bodyPr>
          <a:lstStyle/>
          <a:p>
            <a:pPr algn="r">
              <a:lnSpc>
                <a:spcPct val="115000"/>
              </a:lnSpc>
            </a:pPr>
            <a:r>
              <a:rPr sz="1200" b="0" i="0">
                <a:solidFill>
                  <a:srgbClr val="8A8070"/>
                </a:solidFill>
                <a:latin typeface="Courier New"/>
              </a:rPr>
              <a:t>$52k</a:t>
            </a:r>
          </a:p>
        </p:txBody>
      </p:sp>
      <p:sp>
        <p:nvSpPr>
          <p:cNvPr id="15" name="TextBox 14"/>
          <p:cNvSpPr txBox="1"/>
          <p:nvPr/>
        </p:nvSpPr>
        <p:spPr>
          <a:xfrm>
            <a:off x="777240" y="4343400"/>
            <a:ext cx="3657600" cy="320040"/>
          </a:xfrm>
          <a:prstGeom prst="rect">
            <a:avLst/>
          </a:prstGeom>
          <a:noFill/>
        </p:spPr>
        <p:txBody>
          <a:bodyPr wrap="square" lIns="0" rIns="0" tIns="0" bIns="0" anchor="t">
            <a:spAutoFit/>
          </a:bodyPr>
          <a:lstStyle/>
          <a:p>
            <a:pPr algn="l">
              <a:lnSpc>
                <a:spcPct val="115000"/>
              </a:lnSpc>
            </a:pPr>
            <a:r>
              <a:rPr sz="1300" b="0" i="0">
                <a:solidFill>
                  <a:srgbClr val="EBE5D8"/>
                </a:solidFill>
                <a:latin typeface="Georgia"/>
              </a:rPr>
              <a:t>Toyota RAV4</a:t>
            </a:r>
          </a:p>
        </p:txBody>
      </p:sp>
      <p:sp>
        <p:nvSpPr>
          <p:cNvPr id="16" name="TextBox 15"/>
          <p:cNvSpPr txBox="1"/>
          <p:nvPr/>
        </p:nvSpPr>
        <p:spPr>
          <a:xfrm>
            <a:off x="4434840" y="4343400"/>
            <a:ext cx="1280160" cy="320040"/>
          </a:xfrm>
          <a:prstGeom prst="rect">
            <a:avLst/>
          </a:prstGeom>
          <a:noFill/>
        </p:spPr>
        <p:txBody>
          <a:bodyPr wrap="square" lIns="0" rIns="0" tIns="0" bIns="0" anchor="t">
            <a:spAutoFit/>
          </a:bodyPr>
          <a:lstStyle/>
          <a:p>
            <a:pPr algn="r">
              <a:lnSpc>
                <a:spcPct val="115000"/>
              </a:lnSpc>
            </a:pPr>
            <a:r>
              <a:rPr sz="1200" b="0" i="0">
                <a:solidFill>
                  <a:srgbClr val="8A8070"/>
                </a:solidFill>
                <a:latin typeface="Courier New"/>
              </a:rPr>
              <a:t>$38k</a:t>
            </a:r>
          </a:p>
        </p:txBody>
      </p:sp>
      <p:sp>
        <p:nvSpPr>
          <p:cNvPr id="17" name="TextBox 16"/>
          <p:cNvSpPr txBox="1"/>
          <p:nvPr/>
        </p:nvSpPr>
        <p:spPr>
          <a:xfrm>
            <a:off x="777240" y="4709160"/>
            <a:ext cx="3657600" cy="320040"/>
          </a:xfrm>
          <a:prstGeom prst="rect">
            <a:avLst/>
          </a:prstGeom>
          <a:noFill/>
        </p:spPr>
        <p:txBody>
          <a:bodyPr wrap="square" lIns="0" rIns="0" tIns="0" bIns="0" anchor="t">
            <a:spAutoFit/>
          </a:bodyPr>
          <a:lstStyle/>
          <a:p>
            <a:pPr algn="l">
              <a:lnSpc>
                <a:spcPct val="115000"/>
              </a:lnSpc>
            </a:pPr>
            <a:r>
              <a:rPr sz="1300" b="0" i="0">
                <a:solidFill>
                  <a:srgbClr val="EBE5D8"/>
                </a:solidFill>
                <a:latin typeface="Georgia"/>
              </a:rPr>
              <a:t>Ford F-150</a:t>
            </a:r>
          </a:p>
        </p:txBody>
      </p:sp>
      <p:sp>
        <p:nvSpPr>
          <p:cNvPr id="18" name="TextBox 17"/>
          <p:cNvSpPr txBox="1"/>
          <p:nvPr/>
        </p:nvSpPr>
        <p:spPr>
          <a:xfrm>
            <a:off x="4434840" y="4709160"/>
            <a:ext cx="1280160" cy="320040"/>
          </a:xfrm>
          <a:prstGeom prst="rect">
            <a:avLst/>
          </a:prstGeom>
          <a:noFill/>
        </p:spPr>
        <p:txBody>
          <a:bodyPr wrap="square" lIns="0" rIns="0" tIns="0" bIns="0" anchor="t">
            <a:spAutoFit/>
          </a:bodyPr>
          <a:lstStyle/>
          <a:p>
            <a:pPr algn="r">
              <a:lnSpc>
                <a:spcPct val="115000"/>
              </a:lnSpc>
            </a:pPr>
            <a:r>
              <a:rPr sz="1200" b="0" i="0">
                <a:solidFill>
                  <a:srgbClr val="8A8070"/>
                </a:solidFill>
                <a:latin typeface="Courier New"/>
              </a:rPr>
              <a:t>$45k</a:t>
            </a:r>
          </a:p>
        </p:txBody>
      </p:sp>
      <p:sp>
        <p:nvSpPr>
          <p:cNvPr id="19" name="TextBox 18"/>
          <p:cNvSpPr txBox="1"/>
          <p:nvPr/>
        </p:nvSpPr>
        <p:spPr>
          <a:xfrm>
            <a:off x="777240" y="5074920"/>
            <a:ext cx="3657600" cy="320040"/>
          </a:xfrm>
          <a:prstGeom prst="rect">
            <a:avLst/>
          </a:prstGeom>
          <a:noFill/>
        </p:spPr>
        <p:txBody>
          <a:bodyPr wrap="square" lIns="0" rIns="0" tIns="0" bIns="0" anchor="t">
            <a:spAutoFit/>
          </a:bodyPr>
          <a:lstStyle/>
          <a:p>
            <a:pPr algn="l">
              <a:lnSpc>
                <a:spcPct val="115000"/>
              </a:lnSpc>
            </a:pPr>
            <a:r>
              <a:rPr sz="1300" b="0" i="0">
                <a:solidFill>
                  <a:srgbClr val="EBE5D8"/>
                </a:solidFill>
                <a:latin typeface="Georgia"/>
              </a:rPr>
              <a:t>Honda CR-V</a:t>
            </a:r>
          </a:p>
        </p:txBody>
      </p:sp>
      <p:sp>
        <p:nvSpPr>
          <p:cNvPr id="20" name="TextBox 19"/>
          <p:cNvSpPr txBox="1"/>
          <p:nvPr/>
        </p:nvSpPr>
        <p:spPr>
          <a:xfrm>
            <a:off x="4434840" y="5074920"/>
            <a:ext cx="1280160" cy="320040"/>
          </a:xfrm>
          <a:prstGeom prst="rect">
            <a:avLst/>
          </a:prstGeom>
          <a:noFill/>
        </p:spPr>
        <p:txBody>
          <a:bodyPr wrap="square" lIns="0" rIns="0" tIns="0" bIns="0" anchor="t">
            <a:spAutoFit/>
          </a:bodyPr>
          <a:lstStyle/>
          <a:p>
            <a:pPr algn="r">
              <a:lnSpc>
                <a:spcPct val="115000"/>
              </a:lnSpc>
            </a:pPr>
            <a:r>
              <a:rPr sz="1200" b="0" i="0">
                <a:solidFill>
                  <a:srgbClr val="8A8070"/>
                </a:solidFill>
                <a:latin typeface="Courier New"/>
              </a:rPr>
              <a:t>$36k</a:t>
            </a:r>
          </a:p>
        </p:txBody>
      </p:sp>
      <p:sp>
        <p:nvSpPr>
          <p:cNvPr id="21" name="TextBox 20"/>
          <p:cNvSpPr txBox="1"/>
          <p:nvPr/>
        </p:nvSpPr>
        <p:spPr>
          <a:xfrm>
            <a:off x="777240" y="5623560"/>
            <a:ext cx="5029200" cy="457200"/>
          </a:xfrm>
          <a:prstGeom prst="rect">
            <a:avLst/>
          </a:prstGeom>
          <a:noFill/>
        </p:spPr>
        <p:txBody>
          <a:bodyPr wrap="square" lIns="0" rIns="0" tIns="0" bIns="0" anchor="t">
            <a:spAutoFit/>
          </a:bodyPr>
          <a:lstStyle/>
          <a:p>
            <a:pPr algn="l">
              <a:lnSpc>
                <a:spcPct val="125000"/>
              </a:lnSpc>
            </a:pPr>
            <a:r>
              <a:rPr sz="1100" b="0" i="1">
                <a:solidFill>
                  <a:srgbClr val="C8362D"/>
                </a:solidFill>
                <a:latin typeface="Georgia"/>
              </a:rPr>
              <a:t>2 over budget. All mainstream. 0 electric SUVs. 0 niche brands.</a:t>
            </a:r>
          </a:p>
        </p:txBody>
      </p:sp>
      <p:sp>
        <p:nvSpPr>
          <p:cNvPr id="22" name="Rectangle 21"/>
          <p:cNvSpPr/>
          <p:nvPr/>
        </p:nvSpPr>
        <p:spPr>
          <a:xfrm>
            <a:off x="6263640" y="2834640"/>
            <a:ext cx="5394960" cy="3291840"/>
          </a:xfrm>
          <a:prstGeom prst="rect">
            <a:avLst/>
          </a:prstGeom>
          <a:solidFill>
            <a:srgbClr val="2A20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92240" y="3017520"/>
            <a:ext cx="5029200" cy="365760"/>
          </a:xfrm>
          <a:prstGeom prst="rect">
            <a:avLst/>
          </a:prstGeom>
          <a:noFill/>
        </p:spPr>
        <p:txBody>
          <a:bodyPr wrap="square" lIns="0" rIns="0" tIns="0" bIns="0" anchor="t">
            <a:spAutoFit/>
          </a:bodyPr>
          <a:lstStyle/>
          <a:p>
            <a:pPr algn="l">
              <a:lnSpc>
                <a:spcPct val="115000"/>
              </a:lnSpc>
            </a:pPr>
            <a:r>
              <a:rPr sz="1100" b="0" i="0" spc="300">
                <a:solidFill>
                  <a:srgbClr val="C4A35A"/>
                </a:solidFill>
                <a:latin typeface="Courier New"/>
              </a:rPr>
              <a:t>AFTER / SMART</a:t>
            </a:r>
          </a:p>
        </p:txBody>
      </p:sp>
      <p:cxnSp>
        <p:nvCxnSpPr>
          <p:cNvPr id="24" name="Connector 23"/>
          <p:cNvCxnSpPr/>
          <p:nvPr/>
        </p:nvCxnSpPr>
        <p:spPr>
          <a:xfrm>
            <a:off x="6492240" y="3429000"/>
            <a:ext cx="4937760" cy="0"/>
          </a:xfrm>
          <a:prstGeom prst="line">
            <a:avLst/>
          </a:prstGeom>
          <a:ln w="6350">
            <a:solidFill>
              <a:srgbClr val="C4A35A"/>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6492240" y="3611880"/>
            <a:ext cx="3657600" cy="320040"/>
          </a:xfrm>
          <a:prstGeom prst="rect">
            <a:avLst/>
          </a:prstGeom>
          <a:noFill/>
        </p:spPr>
        <p:txBody>
          <a:bodyPr wrap="square" lIns="0" rIns="0" tIns="0" bIns="0" anchor="t">
            <a:spAutoFit/>
          </a:bodyPr>
          <a:lstStyle/>
          <a:p>
            <a:pPr algn="l">
              <a:lnSpc>
                <a:spcPct val="115000"/>
              </a:lnSpc>
            </a:pPr>
            <a:r>
              <a:rPr sz="1300" b="0" i="0">
                <a:solidFill>
                  <a:srgbClr val="EBE5D8"/>
                </a:solidFill>
                <a:latin typeface="Georgia"/>
              </a:rPr>
              <a:t>BYD Atto 3</a:t>
            </a:r>
          </a:p>
        </p:txBody>
      </p:sp>
      <p:sp>
        <p:nvSpPr>
          <p:cNvPr id="26" name="TextBox 25"/>
          <p:cNvSpPr txBox="1"/>
          <p:nvPr/>
        </p:nvSpPr>
        <p:spPr>
          <a:xfrm>
            <a:off x="10149840" y="3611880"/>
            <a:ext cx="1280160" cy="320040"/>
          </a:xfrm>
          <a:prstGeom prst="rect">
            <a:avLst/>
          </a:prstGeom>
          <a:noFill/>
        </p:spPr>
        <p:txBody>
          <a:bodyPr wrap="square" lIns="0" rIns="0" tIns="0" bIns="0" anchor="t">
            <a:spAutoFit/>
          </a:bodyPr>
          <a:lstStyle/>
          <a:p>
            <a:pPr algn="r">
              <a:lnSpc>
                <a:spcPct val="115000"/>
              </a:lnSpc>
            </a:pPr>
            <a:r>
              <a:rPr sz="1200" b="0" i="0">
                <a:solidFill>
                  <a:srgbClr val="C4A35A"/>
                </a:solidFill>
                <a:latin typeface="Courier New"/>
              </a:rPr>
              <a:t>$28k</a:t>
            </a:r>
          </a:p>
        </p:txBody>
      </p:sp>
      <p:sp>
        <p:nvSpPr>
          <p:cNvPr id="27" name="TextBox 26"/>
          <p:cNvSpPr txBox="1"/>
          <p:nvPr/>
        </p:nvSpPr>
        <p:spPr>
          <a:xfrm>
            <a:off x="6492240" y="3977640"/>
            <a:ext cx="3657600" cy="320040"/>
          </a:xfrm>
          <a:prstGeom prst="rect">
            <a:avLst/>
          </a:prstGeom>
          <a:noFill/>
        </p:spPr>
        <p:txBody>
          <a:bodyPr wrap="square" lIns="0" rIns="0" tIns="0" bIns="0" anchor="t">
            <a:spAutoFit/>
          </a:bodyPr>
          <a:lstStyle/>
          <a:p>
            <a:pPr algn="l">
              <a:lnSpc>
                <a:spcPct val="115000"/>
              </a:lnSpc>
            </a:pPr>
            <a:r>
              <a:rPr sz="1300" b="0" i="0">
                <a:solidFill>
                  <a:srgbClr val="EBE5D8"/>
                </a:solidFill>
                <a:latin typeface="Georgia"/>
              </a:rPr>
              <a:t>NIO ES6</a:t>
            </a:r>
          </a:p>
        </p:txBody>
      </p:sp>
      <p:sp>
        <p:nvSpPr>
          <p:cNvPr id="28" name="TextBox 27"/>
          <p:cNvSpPr txBox="1"/>
          <p:nvPr/>
        </p:nvSpPr>
        <p:spPr>
          <a:xfrm>
            <a:off x="10149840" y="3977640"/>
            <a:ext cx="1280160" cy="320040"/>
          </a:xfrm>
          <a:prstGeom prst="rect">
            <a:avLst/>
          </a:prstGeom>
          <a:noFill/>
        </p:spPr>
        <p:txBody>
          <a:bodyPr wrap="square" lIns="0" rIns="0" tIns="0" bIns="0" anchor="t">
            <a:spAutoFit/>
          </a:bodyPr>
          <a:lstStyle/>
          <a:p>
            <a:pPr algn="r">
              <a:lnSpc>
                <a:spcPct val="115000"/>
              </a:lnSpc>
            </a:pPr>
            <a:r>
              <a:rPr sz="1200" b="0" i="0">
                <a:solidFill>
                  <a:srgbClr val="C4A35A"/>
                </a:solidFill>
                <a:latin typeface="Courier New"/>
              </a:rPr>
              <a:t>$42k</a:t>
            </a:r>
          </a:p>
        </p:txBody>
      </p:sp>
      <p:sp>
        <p:nvSpPr>
          <p:cNvPr id="29" name="TextBox 28"/>
          <p:cNvSpPr txBox="1"/>
          <p:nvPr/>
        </p:nvSpPr>
        <p:spPr>
          <a:xfrm>
            <a:off x="6492240" y="4343400"/>
            <a:ext cx="3657600" cy="320040"/>
          </a:xfrm>
          <a:prstGeom prst="rect">
            <a:avLst/>
          </a:prstGeom>
          <a:noFill/>
        </p:spPr>
        <p:txBody>
          <a:bodyPr wrap="square" lIns="0" rIns="0" tIns="0" bIns="0" anchor="t">
            <a:spAutoFit/>
          </a:bodyPr>
          <a:lstStyle/>
          <a:p>
            <a:pPr algn="l">
              <a:lnSpc>
                <a:spcPct val="115000"/>
              </a:lnSpc>
            </a:pPr>
            <a:r>
              <a:rPr sz="1300" b="0" i="0">
                <a:solidFill>
                  <a:srgbClr val="EBE5D8"/>
                </a:solidFill>
                <a:latin typeface="Georgia"/>
              </a:rPr>
              <a:t>Volvo XC40 Recharge</a:t>
            </a:r>
          </a:p>
        </p:txBody>
      </p:sp>
      <p:sp>
        <p:nvSpPr>
          <p:cNvPr id="30" name="TextBox 29"/>
          <p:cNvSpPr txBox="1"/>
          <p:nvPr/>
        </p:nvSpPr>
        <p:spPr>
          <a:xfrm>
            <a:off x="10149840" y="4343400"/>
            <a:ext cx="1280160" cy="320040"/>
          </a:xfrm>
          <a:prstGeom prst="rect">
            <a:avLst/>
          </a:prstGeom>
          <a:noFill/>
        </p:spPr>
        <p:txBody>
          <a:bodyPr wrap="square" lIns="0" rIns="0" tIns="0" bIns="0" anchor="t">
            <a:spAutoFit/>
          </a:bodyPr>
          <a:lstStyle/>
          <a:p>
            <a:pPr algn="r">
              <a:lnSpc>
                <a:spcPct val="115000"/>
              </a:lnSpc>
            </a:pPr>
            <a:r>
              <a:rPr sz="1200" b="0" i="0">
                <a:solidFill>
                  <a:srgbClr val="C4A35A"/>
                </a:solidFill>
                <a:latin typeface="Courier New"/>
              </a:rPr>
              <a:t>$42k</a:t>
            </a:r>
          </a:p>
        </p:txBody>
      </p:sp>
      <p:sp>
        <p:nvSpPr>
          <p:cNvPr id="31" name="TextBox 30"/>
          <p:cNvSpPr txBox="1"/>
          <p:nvPr/>
        </p:nvSpPr>
        <p:spPr>
          <a:xfrm>
            <a:off x="6492240" y="4709160"/>
            <a:ext cx="3657600" cy="320040"/>
          </a:xfrm>
          <a:prstGeom prst="rect">
            <a:avLst/>
          </a:prstGeom>
          <a:noFill/>
        </p:spPr>
        <p:txBody>
          <a:bodyPr wrap="square" lIns="0" rIns="0" tIns="0" bIns="0" anchor="t">
            <a:spAutoFit/>
          </a:bodyPr>
          <a:lstStyle/>
          <a:p>
            <a:pPr algn="l">
              <a:lnSpc>
                <a:spcPct val="115000"/>
              </a:lnSpc>
            </a:pPr>
            <a:r>
              <a:rPr sz="1300" b="0" i="0">
                <a:solidFill>
                  <a:srgbClr val="EBE5D8"/>
                </a:solidFill>
                <a:latin typeface="Georgia"/>
              </a:rPr>
              <a:t>VW ID.4</a:t>
            </a:r>
          </a:p>
        </p:txBody>
      </p:sp>
      <p:sp>
        <p:nvSpPr>
          <p:cNvPr id="32" name="TextBox 31"/>
          <p:cNvSpPr txBox="1"/>
          <p:nvPr/>
        </p:nvSpPr>
        <p:spPr>
          <a:xfrm>
            <a:off x="10149840" y="4709160"/>
            <a:ext cx="1280160" cy="320040"/>
          </a:xfrm>
          <a:prstGeom prst="rect">
            <a:avLst/>
          </a:prstGeom>
          <a:noFill/>
        </p:spPr>
        <p:txBody>
          <a:bodyPr wrap="square" lIns="0" rIns="0" tIns="0" bIns="0" anchor="t">
            <a:spAutoFit/>
          </a:bodyPr>
          <a:lstStyle/>
          <a:p>
            <a:pPr algn="r">
              <a:lnSpc>
                <a:spcPct val="115000"/>
              </a:lnSpc>
            </a:pPr>
            <a:r>
              <a:rPr sz="1200" b="0" i="0">
                <a:solidFill>
                  <a:srgbClr val="C4A35A"/>
                </a:solidFill>
                <a:latin typeface="Courier New"/>
              </a:rPr>
              <a:t>$39k</a:t>
            </a:r>
          </a:p>
        </p:txBody>
      </p:sp>
      <p:sp>
        <p:nvSpPr>
          <p:cNvPr id="33" name="TextBox 32"/>
          <p:cNvSpPr txBox="1"/>
          <p:nvPr/>
        </p:nvSpPr>
        <p:spPr>
          <a:xfrm>
            <a:off x="6492240" y="5074920"/>
            <a:ext cx="3657600" cy="320040"/>
          </a:xfrm>
          <a:prstGeom prst="rect">
            <a:avLst/>
          </a:prstGeom>
          <a:noFill/>
        </p:spPr>
        <p:txBody>
          <a:bodyPr wrap="square" lIns="0" rIns="0" tIns="0" bIns="0" anchor="t">
            <a:spAutoFit/>
          </a:bodyPr>
          <a:lstStyle/>
          <a:p>
            <a:pPr algn="l">
              <a:lnSpc>
                <a:spcPct val="115000"/>
              </a:lnSpc>
            </a:pPr>
            <a:r>
              <a:rPr sz="1300" b="0" i="0">
                <a:solidFill>
                  <a:srgbClr val="EBE5D8"/>
                </a:solidFill>
                <a:latin typeface="Georgia"/>
              </a:rPr>
              <a:t>Hyundai Ioniq 5</a:t>
            </a:r>
          </a:p>
        </p:txBody>
      </p:sp>
      <p:sp>
        <p:nvSpPr>
          <p:cNvPr id="34" name="TextBox 33"/>
          <p:cNvSpPr txBox="1"/>
          <p:nvPr/>
        </p:nvSpPr>
        <p:spPr>
          <a:xfrm>
            <a:off x="10149840" y="5074920"/>
            <a:ext cx="1280160" cy="320040"/>
          </a:xfrm>
          <a:prstGeom prst="rect">
            <a:avLst/>
          </a:prstGeom>
          <a:noFill/>
        </p:spPr>
        <p:txBody>
          <a:bodyPr wrap="square" lIns="0" rIns="0" tIns="0" bIns="0" anchor="t">
            <a:spAutoFit/>
          </a:bodyPr>
          <a:lstStyle/>
          <a:p>
            <a:pPr algn="r">
              <a:lnSpc>
                <a:spcPct val="115000"/>
              </a:lnSpc>
            </a:pPr>
            <a:r>
              <a:rPr sz="1200" b="0" i="0">
                <a:solidFill>
                  <a:srgbClr val="C4A35A"/>
                </a:solidFill>
                <a:latin typeface="Courier New"/>
              </a:rPr>
              <a:t>$42k</a:t>
            </a:r>
          </a:p>
        </p:txBody>
      </p:sp>
      <p:sp>
        <p:nvSpPr>
          <p:cNvPr id="35" name="TextBox 34"/>
          <p:cNvSpPr txBox="1"/>
          <p:nvPr/>
        </p:nvSpPr>
        <p:spPr>
          <a:xfrm>
            <a:off x="6492240" y="5623560"/>
            <a:ext cx="5029200" cy="457200"/>
          </a:xfrm>
          <a:prstGeom prst="rect">
            <a:avLst/>
          </a:prstGeom>
          <a:noFill/>
        </p:spPr>
        <p:txBody>
          <a:bodyPr wrap="square" lIns="0" rIns="0" tIns="0" bIns="0" anchor="t">
            <a:spAutoFit/>
          </a:bodyPr>
          <a:lstStyle/>
          <a:p>
            <a:pPr algn="l">
              <a:lnSpc>
                <a:spcPct val="125000"/>
              </a:lnSpc>
            </a:pPr>
            <a:r>
              <a:rPr sz="1100" b="0" i="1">
                <a:solidFill>
                  <a:srgbClr val="2D4A2B"/>
                </a:solidFill>
                <a:latin typeface="Georgia"/>
              </a:rPr>
              <a:t>All within budget. All electric SUVs. 3 niche brands exposed.</a:t>
            </a:r>
          </a:p>
        </p:txBody>
      </p:sp>
      <p:sp>
        <p:nvSpPr>
          <p:cNvPr id="36" name="TextBox 35"/>
          <p:cNvSpPr txBox="1"/>
          <p:nvPr/>
        </p:nvSpPr>
        <p:spPr>
          <a:xfrm>
            <a:off x="548640" y="6446520"/>
            <a:ext cx="5486400" cy="274320"/>
          </a:xfrm>
          <a:prstGeom prst="rect">
            <a:avLst/>
          </a:prstGeom>
          <a:noFill/>
        </p:spPr>
        <p:txBody>
          <a:bodyPr wrap="square" lIns="0" rIns="0" tIns="0" bIns="0" anchor="t">
            <a:spAutoFit/>
          </a:bodyPr>
          <a:lstStyle/>
          <a:p>
            <a:pPr algn="l">
              <a:lnSpc>
                <a:spcPct val="115000"/>
              </a:lnSpc>
            </a:pPr>
            <a:r>
              <a:rPr sz="800" b="0" i="0" spc="100">
                <a:solidFill>
                  <a:srgbClr val="8A8070"/>
                </a:solidFill>
                <a:latin typeface="Courier New"/>
              </a:rPr>
              <a:t>Module 3 Hackathon / Recommendation Systems</a:t>
            </a:r>
          </a:p>
        </p:txBody>
      </p:sp>
      <p:sp>
        <p:nvSpPr>
          <p:cNvPr id="37" name="TextBox 36"/>
          <p:cNvSpPr txBox="1"/>
          <p:nvPr/>
        </p:nvSpPr>
        <p:spPr>
          <a:xfrm>
            <a:off x="10058400" y="6446520"/>
            <a:ext cx="1554480" cy="274320"/>
          </a:xfrm>
          <a:prstGeom prst="rect">
            <a:avLst/>
          </a:prstGeom>
          <a:noFill/>
        </p:spPr>
        <p:txBody>
          <a:bodyPr wrap="square" lIns="0" rIns="0" tIns="0" bIns="0" anchor="t">
            <a:spAutoFit/>
          </a:bodyPr>
          <a:lstStyle/>
          <a:p>
            <a:pPr algn="r">
              <a:lnSpc>
                <a:spcPct val="115000"/>
              </a:lnSpc>
            </a:pPr>
            <a:r>
              <a:rPr sz="800" b="0" i="0" spc="100">
                <a:solidFill>
                  <a:srgbClr val="8A8070"/>
                </a:solidFill>
                <a:latin typeface="Courier New"/>
              </a:rPr>
              <a:t>06 / 08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6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5486400" cy="274320"/>
          </a:xfrm>
          <a:prstGeom prst="rect">
            <a:avLst/>
          </a:prstGeom>
          <a:noFill/>
        </p:spPr>
        <p:txBody>
          <a:bodyPr wrap="square" lIns="0" rIns="0" tIns="0" bIns="0" anchor="t">
            <a:spAutoFit/>
          </a:bodyPr>
          <a:lstStyle/>
          <a:p>
            <a:pPr algn="l">
              <a:lnSpc>
                <a:spcPct val="115000"/>
              </a:lnSpc>
            </a:pPr>
            <a:r>
              <a:rPr sz="1000" b="0" i="0" spc="200">
                <a:solidFill>
                  <a:srgbClr val="8A8070"/>
                </a:solidFill>
                <a:latin typeface="Courier New"/>
              </a:rPr>
              <a:t>07 / Risks &amp; Ethics</a:t>
            </a:r>
          </a:p>
        </p:txBody>
      </p:sp>
      <p:sp>
        <p:nvSpPr>
          <p:cNvPr id="4" name="TextBox 3"/>
          <p:cNvSpPr txBox="1"/>
          <p:nvPr/>
        </p:nvSpPr>
        <p:spPr>
          <a:xfrm>
            <a:off x="10058400" y="411480"/>
            <a:ext cx="1554480" cy="274320"/>
          </a:xfrm>
          <a:prstGeom prst="rect">
            <a:avLst/>
          </a:prstGeom>
          <a:noFill/>
        </p:spPr>
        <p:txBody>
          <a:bodyPr wrap="square" lIns="0" rIns="0" tIns="0" bIns="0" anchor="t">
            <a:spAutoFit/>
          </a:bodyPr>
          <a:lstStyle/>
          <a:p>
            <a:pPr algn="r">
              <a:lnSpc>
                <a:spcPct val="115000"/>
              </a:lnSpc>
            </a:pPr>
            <a:r>
              <a:rPr sz="1000" b="0" i="0" spc="200">
                <a:solidFill>
                  <a:srgbClr val="8A8070"/>
                </a:solidFill>
                <a:latin typeface="Courier New"/>
              </a:rPr>
              <a:t>CarRec AI</a:t>
            </a:r>
          </a:p>
        </p:txBody>
      </p:sp>
      <p:cxnSp>
        <p:nvCxnSpPr>
          <p:cNvPr id="5" name="Connector 4"/>
          <p:cNvCxnSpPr/>
          <p:nvPr/>
        </p:nvCxnSpPr>
        <p:spPr>
          <a:xfrm>
            <a:off x="548640" y="777240"/>
            <a:ext cx="11091672" cy="0"/>
          </a:xfrm>
          <a:prstGeom prst="line">
            <a:avLst/>
          </a:prstGeom>
          <a:ln w="6350">
            <a:solidFill>
              <a:srgbClr val="8A8070"/>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48640" y="1143000"/>
            <a:ext cx="7315200" cy="1097280"/>
          </a:xfrm>
          <a:prstGeom prst="rect">
            <a:avLst/>
          </a:prstGeom>
          <a:noFill/>
        </p:spPr>
        <p:txBody>
          <a:bodyPr wrap="square" lIns="0" rIns="0" tIns="0" bIns="0" anchor="t">
            <a:spAutoFit/>
          </a:bodyPr>
          <a:lstStyle/>
          <a:p>
            <a:pPr algn="l">
              <a:lnSpc>
                <a:spcPct val="100000"/>
              </a:lnSpc>
            </a:pPr>
            <a:r>
              <a:rPr sz="4800" b="1" i="0">
                <a:solidFill>
                  <a:srgbClr val="EBE5D8"/>
                </a:solidFill>
                <a:latin typeface="Georgia"/>
              </a:rPr>
              <a:t>Risks &amp; Ethics.</a:t>
            </a:r>
          </a:p>
        </p:txBody>
      </p:sp>
      <p:sp>
        <p:nvSpPr>
          <p:cNvPr id="7" name="TextBox 6"/>
          <p:cNvSpPr txBox="1"/>
          <p:nvPr/>
        </p:nvSpPr>
        <p:spPr>
          <a:xfrm>
            <a:off x="548640" y="2148840"/>
            <a:ext cx="7315200" cy="365760"/>
          </a:xfrm>
          <a:prstGeom prst="rect">
            <a:avLst/>
          </a:prstGeom>
          <a:noFill/>
        </p:spPr>
        <p:txBody>
          <a:bodyPr wrap="square" lIns="0" rIns="0" tIns="0" bIns="0" anchor="t">
            <a:spAutoFit/>
          </a:bodyPr>
          <a:lstStyle/>
          <a:p>
            <a:pPr algn="l">
              <a:lnSpc>
                <a:spcPct val="115000"/>
              </a:lnSpc>
            </a:pPr>
            <a:r>
              <a:rPr sz="1100" b="0" i="0" spc="400">
                <a:solidFill>
                  <a:srgbClr val="C8362D"/>
                </a:solidFill>
                <a:latin typeface="Courier New"/>
              </a:rPr>
              <a:t>07 / REFLECTION</a:t>
            </a:r>
          </a:p>
        </p:txBody>
      </p:sp>
      <p:sp>
        <p:nvSpPr>
          <p:cNvPr id="8" name="TextBox 7"/>
          <p:cNvSpPr txBox="1"/>
          <p:nvPr/>
        </p:nvSpPr>
        <p:spPr>
          <a:xfrm>
            <a:off x="548640" y="2743200"/>
            <a:ext cx="548640" cy="365760"/>
          </a:xfrm>
          <a:prstGeom prst="rect">
            <a:avLst/>
          </a:prstGeom>
          <a:noFill/>
        </p:spPr>
        <p:txBody>
          <a:bodyPr wrap="square" lIns="0" rIns="0" tIns="0" bIns="0" anchor="t">
            <a:spAutoFit/>
          </a:bodyPr>
          <a:lstStyle/>
          <a:p>
            <a:pPr algn="l">
              <a:lnSpc>
                <a:spcPct val="115000"/>
              </a:lnSpc>
            </a:pPr>
            <a:r>
              <a:rPr sz="1200" b="0" i="0" spc="300">
                <a:solidFill>
                  <a:srgbClr val="C4A35A"/>
                </a:solidFill>
                <a:latin typeface="Courier New"/>
              </a:rPr>
              <a:t>01</a:t>
            </a:r>
          </a:p>
        </p:txBody>
      </p:sp>
      <p:cxnSp>
        <p:nvCxnSpPr>
          <p:cNvPr id="9" name="Connector 8"/>
          <p:cNvCxnSpPr/>
          <p:nvPr/>
        </p:nvCxnSpPr>
        <p:spPr>
          <a:xfrm>
            <a:off x="1005840" y="2907792"/>
            <a:ext cx="365760" cy="0"/>
          </a:xfrm>
          <a:prstGeom prst="line">
            <a:avLst/>
          </a:prstGeom>
          <a:ln w="12700">
            <a:solidFill>
              <a:srgbClr val="C4A35A"/>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463040" y="2743200"/>
            <a:ext cx="4389120" cy="457200"/>
          </a:xfrm>
          <a:prstGeom prst="rect">
            <a:avLst/>
          </a:prstGeom>
          <a:noFill/>
        </p:spPr>
        <p:txBody>
          <a:bodyPr wrap="square" lIns="0" rIns="0" tIns="0" bIns="0" anchor="t">
            <a:spAutoFit/>
          </a:bodyPr>
          <a:lstStyle/>
          <a:p>
            <a:pPr algn="l">
              <a:lnSpc>
                <a:spcPct val="115000"/>
              </a:lnSpc>
            </a:pPr>
            <a:r>
              <a:rPr sz="1800" b="1" i="0">
                <a:solidFill>
                  <a:srgbClr val="EBE5D8"/>
                </a:solidFill>
                <a:latin typeface="Georgia"/>
              </a:rPr>
              <a:t>Catalog Bias</a:t>
            </a:r>
          </a:p>
        </p:txBody>
      </p:sp>
      <p:sp>
        <p:nvSpPr>
          <p:cNvPr id="11" name="TextBox 10"/>
          <p:cNvSpPr txBox="1"/>
          <p:nvPr/>
        </p:nvSpPr>
        <p:spPr>
          <a:xfrm>
            <a:off x="1463040" y="3154680"/>
            <a:ext cx="4389120" cy="1371600"/>
          </a:xfrm>
          <a:prstGeom prst="rect">
            <a:avLst/>
          </a:prstGeom>
          <a:noFill/>
        </p:spPr>
        <p:txBody>
          <a:bodyPr wrap="square" lIns="0" rIns="0" tIns="0" bIns="0" anchor="t">
            <a:spAutoFit/>
          </a:bodyPr>
          <a:lstStyle/>
          <a:p>
            <a:pPr algn="l">
              <a:lnSpc>
                <a:spcPct val="130000"/>
              </a:lnSpc>
            </a:pPr>
            <a:r>
              <a:rPr sz="1100" b="0" i="0">
                <a:solidFill>
                  <a:srgbClr val="8A8070"/>
                </a:solidFill>
                <a:latin typeface="Georgia"/>
              </a:rPr>
              <a:t>70 cars is curated, not exhaustive. Niche classification is manual and should be data-driven in a production system.</a:t>
            </a:r>
          </a:p>
        </p:txBody>
      </p:sp>
      <p:sp>
        <p:nvSpPr>
          <p:cNvPr id="12" name="TextBox 11"/>
          <p:cNvSpPr txBox="1"/>
          <p:nvPr/>
        </p:nvSpPr>
        <p:spPr>
          <a:xfrm>
            <a:off x="6263640" y="2743200"/>
            <a:ext cx="548640" cy="365760"/>
          </a:xfrm>
          <a:prstGeom prst="rect">
            <a:avLst/>
          </a:prstGeom>
          <a:noFill/>
        </p:spPr>
        <p:txBody>
          <a:bodyPr wrap="square" lIns="0" rIns="0" tIns="0" bIns="0" anchor="t">
            <a:spAutoFit/>
          </a:bodyPr>
          <a:lstStyle/>
          <a:p>
            <a:pPr algn="l">
              <a:lnSpc>
                <a:spcPct val="115000"/>
              </a:lnSpc>
            </a:pPr>
            <a:r>
              <a:rPr sz="1200" b="0" i="0" spc="300">
                <a:solidFill>
                  <a:srgbClr val="C4A35A"/>
                </a:solidFill>
                <a:latin typeface="Courier New"/>
              </a:rPr>
              <a:t>02</a:t>
            </a:r>
          </a:p>
        </p:txBody>
      </p:sp>
      <p:cxnSp>
        <p:nvCxnSpPr>
          <p:cNvPr id="13" name="Connector 12"/>
          <p:cNvCxnSpPr/>
          <p:nvPr/>
        </p:nvCxnSpPr>
        <p:spPr>
          <a:xfrm>
            <a:off x="6720840" y="2907792"/>
            <a:ext cx="365760" cy="0"/>
          </a:xfrm>
          <a:prstGeom prst="line">
            <a:avLst/>
          </a:prstGeom>
          <a:ln w="12700">
            <a:solidFill>
              <a:srgbClr val="C4A35A"/>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178040" y="2743200"/>
            <a:ext cx="4389120" cy="457200"/>
          </a:xfrm>
          <a:prstGeom prst="rect">
            <a:avLst/>
          </a:prstGeom>
          <a:noFill/>
        </p:spPr>
        <p:txBody>
          <a:bodyPr wrap="square" lIns="0" rIns="0" tIns="0" bIns="0" anchor="t">
            <a:spAutoFit/>
          </a:bodyPr>
          <a:lstStyle/>
          <a:p>
            <a:pPr algn="l">
              <a:lnSpc>
                <a:spcPct val="115000"/>
              </a:lnSpc>
            </a:pPr>
            <a:r>
              <a:rPr sz="1800" b="1" i="0">
                <a:solidFill>
                  <a:srgbClr val="EBE5D8"/>
                </a:solidFill>
                <a:latin typeface="Georgia"/>
              </a:rPr>
              <a:t>Fairness Is Editorial</a:t>
            </a:r>
          </a:p>
        </p:txBody>
      </p:sp>
      <p:sp>
        <p:nvSpPr>
          <p:cNvPr id="15" name="TextBox 14"/>
          <p:cNvSpPr txBox="1"/>
          <p:nvPr/>
        </p:nvSpPr>
        <p:spPr>
          <a:xfrm>
            <a:off x="7178040" y="3154680"/>
            <a:ext cx="4389120" cy="1371600"/>
          </a:xfrm>
          <a:prstGeom prst="rect">
            <a:avLst/>
          </a:prstGeom>
          <a:noFill/>
        </p:spPr>
        <p:txBody>
          <a:bodyPr wrap="square" lIns="0" rIns="0" tIns="0" bIns="0" anchor="t">
            <a:spAutoFit/>
          </a:bodyPr>
          <a:lstStyle/>
          <a:p>
            <a:pPr algn="l">
              <a:lnSpc>
                <a:spcPct val="130000"/>
              </a:lnSpc>
            </a:pPr>
            <a:r>
              <a:rPr sz="1100" b="0" i="0">
                <a:solidFill>
                  <a:srgbClr val="8A8070"/>
                </a:solidFill>
                <a:latin typeface="Georgia"/>
              </a:rPr>
              <a:t>The 1.5-point niche boost is a value judgment, not objective optimization. Different stakeholders may disagree on the right amount.</a:t>
            </a:r>
          </a:p>
        </p:txBody>
      </p:sp>
      <p:sp>
        <p:nvSpPr>
          <p:cNvPr id="16" name="TextBox 15"/>
          <p:cNvSpPr txBox="1"/>
          <p:nvPr/>
        </p:nvSpPr>
        <p:spPr>
          <a:xfrm>
            <a:off x="548640" y="4617720"/>
            <a:ext cx="548640" cy="365760"/>
          </a:xfrm>
          <a:prstGeom prst="rect">
            <a:avLst/>
          </a:prstGeom>
          <a:noFill/>
        </p:spPr>
        <p:txBody>
          <a:bodyPr wrap="square" lIns="0" rIns="0" tIns="0" bIns="0" anchor="t">
            <a:spAutoFit/>
          </a:bodyPr>
          <a:lstStyle/>
          <a:p>
            <a:pPr algn="l">
              <a:lnSpc>
                <a:spcPct val="115000"/>
              </a:lnSpc>
            </a:pPr>
            <a:r>
              <a:rPr sz="1200" b="0" i="0" spc="300">
                <a:solidFill>
                  <a:srgbClr val="C4A35A"/>
                </a:solidFill>
                <a:latin typeface="Courier New"/>
              </a:rPr>
              <a:t>03</a:t>
            </a:r>
          </a:p>
        </p:txBody>
      </p:sp>
      <p:cxnSp>
        <p:nvCxnSpPr>
          <p:cNvPr id="17" name="Connector 16"/>
          <p:cNvCxnSpPr/>
          <p:nvPr/>
        </p:nvCxnSpPr>
        <p:spPr>
          <a:xfrm>
            <a:off x="1005840" y="4782312"/>
            <a:ext cx="365760" cy="0"/>
          </a:xfrm>
          <a:prstGeom prst="line">
            <a:avLst/>
          </a:prstGeom>
          <a:ln w="12700">
            <a:solidFill>
              <a:srgbClr val="C4A35A"/>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1463040" y="4617720"/>
            <a:ext cx="4389120" cy="457200"/>
          </a:xfrm>
          <a:prstGeom prst="rect">
            <a:avLst/>
          </a:prstGeom>
          <a:noFill/>
        </p:spPr>
        <p:txBody>
          <a:bodyPr wrap="square" lIns="0" rIns="0" tIns="0" bIns="0" anchor="t">
            <a:spAutoFit/>
          </a:bodyPr>
          <a:lstStyle/>
          <a:p>
            <a:pPr algn="l">
              <a:lnSpc>
                <a:spcPct val="115000"/>
              </a:lnSpc>
            </a:pPr>
            <a:r>
              <a:rPr sz="1800" b="1" i="0">
                <a:solidFill>
                  <a:srgbClr val="EBE5D8"/>
                </a:solidFill>
                <a:latin typeface="Georgia"/>
              </a:rPr>
              <a:t>No Learning Loop</a:t>
            </a:r>
          </a:p>
        </p:txBody>
      </p:sp>
      <p:sp>
        <p:nvSpPr>
          <p:cNvPr id="19" name="TextBox 18"/>
          <p:cNvSpPr txBox="1"/>
          <p:nvPr/>
        </p:nvSpPr>
        <p:spPr>
          <a:xfrm>
            <a:off x="1463040" y="5029200"/>
            <a:ext cx="4389120" cy="1371600"/>
          </a:xfrm>
          <a:prstGeom prst="rect">
            <a:avLst/>
          </a:prstGeom>
          <a:noFill/>
        </p:spPr>
        <p:txBody>
          <a:bodyPr wrap="square" lIns="0" rIns="0" tIns="0" bIns="0" anchor="t">
            <a:spAutoFit/>
          </a:bodyPr>
          <a:lstStyle/>
          <a:p>
            <a:pPr algn="l">
              <a:lnSpc>
                <a:spcPct val="130000"/>
              </a:lnSpc>
            </a:pPr>
            <a:r>
              <a:rPr sz="1100" b="0" i="0">
                <a:solidFill>
                  <a:srgbClr val="8A8070"/>
                </a:solidFill>
                <a:latin typeface="Georgia"/>
              </a:rPr>
              <a:t>Cold start means no feedback mechanism. The system cannot improve from outcomes without tracking whether users acted on recommendations.</a:t>
            </a:r>
          </a:p>
        </p:txBody>
      </p:sp>
      <p:sp>
        <p:nvSpPr>
          <p:cNvPr id="20" name="TextBox 19"/>
          <p:cNvSpPr txBox="1"/>
          <p:nvPr/>
        </p:nvSpPr>
        <p:spPr>
          <a:xfrm>
            <a:off x="6263640" y="4617720"/>
            <a:ext cx="548640" cy="365760"/>
          </a:xfrm>
          <a:prstGeom prst="rect">
            <a:avLst/>
          </a:prstGeom>
          <a:noFill/>
        </p:spPr>
        <p:txBody>
          <a:bodyPr wrap="square" lIns="0" rIns="0" tIns="0" bIns="0" anchor="t">
            <a:spAutoFit/>
          </a:bodyPr>
          <a:lstStyle/>
          <a:p>
            <a:pPr algn="l">
              <a:lnSpc>
                <a:spcPct val="115000"/>
              </a:lnSpc>
            </a:pPr>
            <a:r>
              <a:rPr sz="1200" b="0" i="0" spc="300">
                <a:solidFill>
                  <a:srgbClr val="C4A35A"/>
                </a:solidFill>
                <a:latin typeface="Courier New"/>
              </a:rPr>
              <a:t>04</a:t>
            </a:r>
          </a:p>
        </p:txBody>
      </p:sp>
      <p:cxnSp>
        <p:nvCxnSpPr>
          <p:cNvPr id="21" name="Connector 20"/>
          <p:cNvCxnSpPr/>
          <p:nvPr/>
        </p:nvCxnSpPr>
        <p:spPr>
          <a:xfrm>
            <a:off x="6720840" y="4782312"/>
            <a:ext cx="365760" cy="0"/>
          </a:xfrm>
          <a:prstGeom prst="line">
            <a:avLst/>
          </a:prstGeom>
          <a:ln w="12700">
            <a:solidFill>
              <a:srgbClr val="C4A35A"/>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7178040" y="4617720"/>
            <a:ext cx="4389120" cy="457200"/>
          </a:xfrm>
          <a:prstGeom prst="rect">
            <a:avLst/>
          </a:prstGeom>
          <a:noFill/>
        </p:spPr>
        <p:txBody>
          <a:bodyPr wrap="square" lIns="0" rIns="0" tIns="0" bIns="0" anchor="t">
            <a:spAutoFit/>
          </a:bodyPr>
          <a:lstStyle/>
          <a:p>
            <a:pPr algn="l">
              <a:lnSpc>
                <a:spcPct val="115000"/>
              </a:lnSpc>
            </a:pPr>
            <a:r>
              <a:rPr sz="1800" b="1" i="0">
                <a:solidFill>
                  <a:srgbClr val="EBE5D8"/>
                </a:solidFill>
                <a:latin typeface="Georgia"/>
              </a:rPr>
              <a:t>LLM Hallucination</a:t>
            </a:r>
          </a:p>
        </p:txBody>
      </p:sp>
      <p:sp>
        <p:nvSpPr>
          <p:cNvPr id="23" name="TextBox 22"/>
          <p:cNvSpPr txBox="1"/>
          <p:nvPr/>
        </p:nvSpPr>
        <p:spPr>
          <a:xfrm>
            <a:off x="7178040" y="5029200"/>
            <a:ext cx="4389120" cy="1371600"/>
          </a:xfrm>
          <a:prstGeom prst="rect">
            <a:avLst/>
          </a:prstGeom>
          <a:noFill/>
        </p:spPr>
        <p:txBody>
          <a:bodyPr wrap="square" lIns="0" rIns="0" tIns="0" bIns="0" anchor="t">
            <a:spAutoFit/>
          </a:bodyPr>
          <a:lstStyle/>
          <a:p>
            <a:pPr algn="l">
              <a:lnSpc>
                <a:spcPct val="130000"/>
              </a:lnSpc>
            </a:pPr>
            <a:r>
              <a:rPr sz="1100" b="0" i="0">
                <a:solidFill>
                  <a:srgbClr val="8A8070"/>
                </a:solidFill>
                <a:latin typeface="Georgia"/>
              </a:rPr>
              <a:t>The LLM generates reasons but does not make the decision. Structured data validates the recommendation. Production would validate LLM output against car data.</a:t>
            </a:r>
          </a:p>
        </p:txBody>
      </p:sp>
      <p:sp>
        <p:nvSpPr>
          <p:cNvPr id="24" name="TextBox 23"/>
          <p:cNvSpPr txBox="1"/>
          <p:nvPr/>
        </p:nvSpPr>
        <p:spPr>
          <a:xfrm>
            <a:off x="548640" y="6446520"/>
            <a:ext cx="5486400" cy="274320"/>
          </a:xfrm>
          <a:prstGeom prst="rect">
            <a:avLst/>
          </a:prstGeom>
          <a:noFill/>
        </p:spPr>
        <p:txBody>
          <a:bodyPr wrap="square" lIns="0" rIns="0" tIns="0" bIns="0" anchor="t">
            <a:spAutoFit/>
          </a:bodyPr>
          <a:lstStyle/>
          <a:p>
            <a:pPr algn="l">
              <a:lnSpc>
                <a:spcPct val="115000"/>
              </a:lnSpc>
            </a:pPr>
            <a:r>
              <a:rPr sz="800" b="0" i="0" spc="100">
                <a:solidFill>
                  <a:srgbClr val="8A8070"/>
                </a:solidFill>
                <a:latin typeface="Courier New"/>
              </a:rPr>
              <a:t>Module 3 Hackathon / Recommendation Systems</a:t>
            </a:r>
          </a:p>
        </p:txBody>
      </p:sp>
      <p:sp>
        <p:nvSpPr>
          <p:cNvPr id="25" name="TextBox 24"/>
          <p:cNvSpPr txBox="1"/>
          <p:nvPr/>
        </p:nvSpPr>
        <p:spPr>
          <a:xfrm>
            <a:off x="10058400" y="6446520"/>
            <a:ext cx="1554480" cy="274320"/>
          </a:xfrm>
          <a:prstGeom prst="rect">
            <a:avLst/>
          </a:prstGeom>
          <a:noFill/>
        </p:spPr>
        <p:txBody>
          <a:bodyPr wrap="square" lIns="0" rIns="0" tIns="0" bIns="0" anchor="t">
            <a:spAutoFit/>
          </a:bodyPr>
          <a:lstStyle/>
          <a:p>
            <a:pPr algn="r">
              <a:lnSpc>
                <a:spcPct val="115000"/>
              </a:lnSpc>
            </a:pPr>
            <a:r>
              <a:rPr sz="800" b="0" i="0" spc="100">
                <a:solidFill>
                  <a:srgbClr val="8A8070"/>
                </a:solidFill>
                <a:latin typeface="Courier New"/>
              </a:rPr>
              <a:t>07 / 08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6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5486400" cy="274320"/>
          </a:xfrm>
          <a:prstGeom prst="rect">
            <a:avLst/>
          </a:prstGeom>
          <a:noFill/>
        </p:spPr>
        <p:txBody>
          <a:bodyPr wrap="square" lIns="0" rIns="0" tIns="0" bIns="0" anchor="t">
            <a:spAutoFit/>
          </a:bodyPr>
          <a:lstStyle/>
          <a:p>
            <a:pPr algn="l">
              <a:lnSpc>
                <a:spcPct val="115000"/>
              </a:lnSpc>
            </a:pPr>
            <a:r>
              <a:rPr sz="1000" b="0" i="0" spc="200">
                <a:solidFill>
                  <a:srgbClr val="8A8070"/>
                </a:solidFill>
                <a:latin typeface="Courier New"/>
              </a:rPr>
              <a:t>08 / Live Demo</a:t>
            </a:r>
          </a:p>
        </p:txBody>
      </p:sp>
      <p:sp>
        <p:nvSpPr>
          <p:cNvPr id="4" name="TextBox 3"/>
          <p:cNvSpPr txBox="1"/>
          <p:nvPr/>
        </p:nvSpPr>
        <p:spPr>
          <a:xfrm>
            <a:off x="10058400" y="411480"/>
            <a:ext cx="1554480" cy="274320"/>
          </a:xfrm>
          <a:prstGeom prst="rect">
            <a:avLst/>
          </a:prstGeom>
          <a:noFill/>
        </p:spPr>
        <p:txBody>
          <a:bodyPr wrap="square" lIns="0" rIns="0" tIns="0" bIns="0" anchor="t">
            <a:spAutoFit/>
          </a:bodyPr>
          <a:lstStyle/>
          <a:p>
            <a:pPr algn="r">
              <a:lnSpc>
                <a:spcPct val="115000"/>
              </a:lnSpc>
            </a:pPr>
            <a:r>
              <a:rPr sz="1000" b="0" i="0" spc="200">
                <a:solidFill>
                  <a:srgbClr val="8A8070"/>
                </a:solidFill>
                <a:latin typeface="Courier New"/>
              </a:rPr>
              <a:t>CarRec AI</a:t>
            </a:r>
          </a:p>
        </p:txBody>
      </p:sp>
      <p:cxnSp>
        <p:nvCxnSpPr>
          <p:cNvPr id="5" name="Connector 4"/>
          <p:cNvCxnSpPr/>
          <p:nvPr/>
        </p:nvCxnSpPr>
        <p:spPr>
          <a:xfrm>
            <a:off x="548640" y="777240"/>
            <a:ext cx="11091672" cy="0"/>
          </a:xfrm>
          <a:prstGeom prst="line">
            <a:avLst/>
          </a:prstGeom>
          <a:ln w="6350">
            <a:solidFill>
              <a:srgbClr val="8A8070"/>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48640" y="1371600"/>
            <a:ext cx="7315200" cy="365760"/>
          </a:xfrm>
          <a:prstGeom prst="rect">
            <a:avLst/>
          </a:prstGeom>
          <a:noFill/>
        </p:spPr>
        <p:txBody>
          <a:bodyPr wrap="square" lIns="0" rIns="0" tIns="0" bIns="0" anchor="t">
            <a:spAutoFit/>
          </a:bodyPr>
          <a:lstStyle/>
          <a:p>
            <a:pPr algn="l">
              <a:lnSpc>
                <a:spcPct val="115000"/>
              </a:lnSpc>
            </a:pPr>
            <a:r>
              <a:rPr sz="1100" b="0" i="0" spc="400">
                <a:solidFill>
                  <a:srgbClr val="C8362D"/>
                </a:solidFill>
                <a:latin typeface="Courier New"/>
              </a:rPr>
              <a:t>08 / DEMO</a:t>
            </a:r>
          </a:p>
        </p:txBody>
      </p:sp>
      <p:sp>
        <p:nvSpPr>
          <p:cNvPr id="7" name="TextBox 6"/>
          <p:cNvSpPr txBox="1"/>
          <p:nvPr/>
        </p:nvSpPr>
        <p:spPr>
          <a:xfrm>
            <a:off x="548640" y="1828800"/>
            <a:ext cx="10972800" cy="2286000"/>
          </a:xfrm>
          <a:prstGeom prst="rect">
            <a:avLst/>
          </a:prstGeom>
          <a:noFill/>
        </p:spPr>
        <p:txBody>
          <a:bodyPr wrap="square" lIns="0" rIns="0" tIns="0" bIns="0" anchor="t">
            <a:spAutoFit/>
          </a:bodyPr>
          <a:lstStyle/>
          <a:p>
            <a:pPr algn="l">
              <a:lnSpc>
                <a:spcPct val="95000"/>
              </a:lnSpc>
            </a:pPr>
            <a:r>
              <a:rPr sz="11000" b="1" i="0">
                <a:solidFill>
                  <a:srgbClr val="EBE5D8"/>
                </a:solidFill>
                <a:latin typeface="Georgia"/>
              </a:rPr>
              <a:t>Try It</a:t>
            </a:r>
          </a:p>
          <a:p>
            <a:pPr algn="l">
              <a:lnSpc>
                <a:spcPct val="95000"/>
              </a:lnSpc>
            </a:pPr>
            <a:r>
              <a:rPr sz="11000" b="1" i="0">
                <a:solidFill>
                  <a:srgbClr val="EBE5D8"/>
                </a:solidFill>
                <a:latin typeface="Georgia"/>
              </a:rPr>
              <a:t>Live.</a:t>
            </a:r>
          </a:p>
        </p:txBody>
      </p:sp>
      <p:sp>
        <p:nvSpPr>
          <p:cNvPr id="8" name="TextBox 7"/>
          <p:cNvSpPr txBox="1"/>
          <p:nvPr/>
        </p:nvSpPr>
        <p:spPr>
          <a:xfrm>
            <a:off x="548640" y="4480560"/>
            <a:ext cx="10972800" cy="457200"/>
          </a:xfrm>
          <a:prstGeom prst="rect">
            <a:avLst/>
          </a:prstGeom>
          <a:noFill/>
        </p:spPr>
        <p:txBody>
          <a:bodyPr wrap="square" lIns="0" rIns="0" tIns="0" bIns="0" anchor="t">
            <a:spAutoFit/>
          </a:bodyPr>
          <a:lstStyle/>
          <a:p>
            <a:pPr algn="l">
              <a:lnSpc>
                <a:spcPct val="115000"/>
              </a:lnSpc>
            </a:pPr>
            <a:r>
              <a:rPr sz="1500" b="0" i="1">
                <a:solidFill>
                  <a:srgbClr val="8A8070"/>
                </a:solidFill>
                <a:latin typeface="Georgia"/>
              </a:rPr>
              <a:t>The app is deployed and accepts natural language queries.</a:t>
            </a:r>
          </a:p>
        </p:txBody>
      </p:sp>
      <p:cxnSp>
        <p:nvCxnSpPr>
          <p:cNvPr id="9" name="Connector 8"/>
          <p:cNvCxnSpPr/>
          <p:nvPr/>
        </p:nvCxnSpPr>
        <p:spPr>
          <a:xfrm>
            <a:off x="548640" y="5120640"/>
            <a:ext cx="11091672" cy="0"/>
          </a:xfrm>
          <a:prstGeom prst="line">
            <a:avLst/>
          </a:prstGeom>
          <a:ln w="6350">
            <a:solidFill>
              <a:srgbClr val="8A8070"/>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48640" y="5303520"/>
            <a:ext cx="2743200" cy="274320"/>
          </a:xfrm>
          <a:prstGeom prst="rect">
            <a:avLst/>
          </a:prstGeom>
          <a:noFill/>
        </p:spPr>
        <p:txBody>
          <a:bodyPr wrap="square" lIns="0" rIns="0" tIns="0" bIns="0" anchor="t">
            <a:spAutoFit/>
          </a:bodyPr>
          <a:lstStyle/>
          <a:p>
            <a:pPr algn="l">
              <a:lnSpc>
                <a:spcPct val="115000"/>
              </a:lnSpc>
            </a:pPr>
            <a:r>
              <a:rPr sz="1000" b="0" i="0" spc="300">
                <a:solidFill>
                  <a:srgbClr val="C4A35A"/>
                </a:solidFill>
                <a:latin typeface="Courier New"/>
              </a:rPr>
              <a:t>LIVE APP</a:t>
            </a:r>
          </a:p>
        </p:txBody>
      </p:sp>
      <p:sp>
        <p:nvSpPr>
          <p:cNvPr id="11" name="TextBox 10"/>
          <p:cNvSpPr txBox="1"/>
          <p:nvPr/>
        </p:nvSpPr>
        <p:spPr>
          <a:xfrm>
            <a:off x="548640" y="5532120"/>
            <a:ext cx="6400800" cy="365760"/>
          </a:xfrm>
          <a:prstGeom prst="rect">
            <a:avLst/>
          </a:prstGeom>
          <a:noFill/>
        </p:spPr>
        <p:txBody>
          <a:bodyPr wrap="square" lIns="0" rIns="0" tIns="0" bIns="0" anchor="t">
            <a:spAutoFit/>
          </a:bodyPr>
          <a:lstStyle/>
          <a:p>
            <a:pPr algn="l">
              <a:lnSpc>
                <a:spcPct val="115000"/>
              </a:lnSpc>
            </a:pPr>
            <a:r>
              <a:rPr sz="1400" b="0" i="0">
                <a:solidFill>
                  <a:srgbClr val="EBE5D8"/>
                </a:solidFill>
                <a:latin typeface="Courier New"/>
              </a:rPr>
              <a:t>carrec-ai.onrender.com</a:t>
            </a:r>
          </a:p>
        </p:txBody>
      </p:sp>
      <p:sp>
        <p:nvSpPr>
          <p:cNvPr id="12" name="TextBox 11"/>
          <p:cNvSpPr txBox="1"/>
          <p:nvPr/>
        </p:nvSpPr>
        <p:spPr>
          <a:xfrm>
            <a:off x="6400800" y="5303520"/>
            <a:ext cx="2743200" cy="274320"/>
          </a:xfrm>
          <a:prstGeom prst="rect">
            <a:avLst/>
          </a:prstGeom>
          <a:noFill/>
        </p:spPr>
        <p:txBody>
          <a:bodyPr wrap="square" lIns="0" rIns="0" tIns="0" bIns="0" anchor="t">
            <a:spAutoFit/>
          </a:bodyPr>
          <a:lstStyle/>
          <a:p>
            <a:pPr algn="l">
              <a:lnSpc>
                <a:spcPct val="115000"/>
              </a:lnSpc>
            </a:pPr>
            <a:r>
              <a:rPr sz="1000" b="0" i="0" spc="300">
                <a:solidFill>
                  <a:srgbClr val="C4A35A"/>
                </a:solidFill>
                <a:latin typeface="Courier New"/>
              </a:rPr>
              <a:t>SOURCE CODE</a:t>
            </a:r>
          </a:p>
        </p:txBody>
      </p:sp>
      <p:sp>
        <p:nvSpPr>
          <p:cNvPr id="13" name="TextBox 12"/>
          <p:cNvSpPr txBox="1"/>
          <p:nvPr/>
        </p:nvSpPr>
        <p:spPr>
          <a:xfrm>
            <a:off x="6400800" y="5532120"/>
            <a:ext cx="5486400" cy="365760"/>
          </a:xfrm>
          <a:prstGeom prst="rect">
            <a:avLst/>
          </a:prstGeom>
          <a:noFill/>
        </p:spPr>
        <p:txBody>
          <a:bodyPr wrap="square" lIns="0" rIns="0" tIns="0" bIns="0" anchor="t">
            <a:spAutoFit/>
          </a:bodyPr>
          <a:lstStyle/>
          <a:p>
            <a:pPr algn="l">
              <a:lnSpc>
                <a:spcPct val="115000"/>
              </a:lnSpc>
            </a:pPr>
            <a:r>
              <a:rPr sz="1400" b="0" i="0">
                <a:solidFill>
                  <a:srgbClr val="EBE5D8"/>
                </a:solidFill>
                <a:latin typeface="Courier New"/>
              </a:rPr>
              <a:t>github.com/hanfuzhao/carrec-ai</a:t>
            </a:r>
          </a:p>
        </p:txBody>
      </p:sp>
      <p:sp>
        <p:nvSpPr>
          <p:cNvPr id="14" name="TextBox 13"/>
          <p:cNvSpPr txBox="1"/>
          <p:nvPr/>
        </p:nvSpPr>
        <p:spPr>
          <a:xfrm>
            <a:off x="548640" y="6126480"/>
            <a:ext cx="10972800" cy="365760"/>
          </a:xfrm>
          <a:prstGeom prst="rect">
            <a:avLst/>
          </a:prstGeom>
          <a:noFill/>
        </p:spPr>
        <p:txBody>
          <a:bodyPr wrap="square" lIns="0" rIns="0" tIns="0" bIns="0" anchor="t">
            <a:spAutoFit/>
          </a:bodyPr>
          <a:lstStyle/>
          <a:p>
            <a:pPr algn="l">
              <a:lnSpc>
                <a:spcPct val="115000"/>
              </a:lnSpc>
            </a:pPr>
            <a:r>
              <a:rPr sz="1100" b="0" i="1">
                <a:solidFill>
                  <a:srgbClr val="8A8070"/>
                </a:solidFill>
                <a:latin typeface="Georgia"/>
              </a:rPr>
              <a:t>“family SUV under $50k, preferably electric”  /  “cheap commute car around $25k”  /  “luxury sedan for business, budget $60k”</a:t>
            </a:r>
          </a:p>
        </p:txBody>
      </p:sp>
      <p:sp>
        <p:nvSpPr>
          <p:cNvPr id="15" name="TextBox 14"/>
          <p:cNvSpPr txBox="1"/>
          <p:nvPr/>
        </p:nvSpPr>
        <p:spPr>
          <a:xfrm>
            <a:off x="548640" y="6446520"/>
            <a:ext cx="5486400" cy="274320"/>
          </a:xfrm>
          <a:prstGeom prst="rect">
            <a:avLst/>
          </a:prstGeom>
          <a:noFill/>
        </p:spPr>
        <p:txBody>
          <a:bodyPr wrap="square" lIns="0" rIns="0" tIns="0" bIns="0" anchor="t">
            <a:spAutoFit/>
          </a:bodyPr>
          <a:lstStyle/>
          <a:p>
            <a:pPr algn="l">
              <a:lnSpc>
                <a:spcPct val="115000"/>
              </a:lnSpc>
            </a:pPr>
            <a:r>
              <a:rPr sz="800" b="0" i="0" spc="100">
                <a:solidFill>
                  <a:srgbClr val="8A8070"/>
                </a:solidFill>
                <a:latin typeface="Courier New"/>
              </a:rPr>
              <a:t>Module 3 Hackathon / Recommendation Systems</a:t>
            </a:r>
          </a:p>
        </p:txBody>
      </p:sp>
      <p:sp>
        <p:nvSpPr>
          <p:cNvPr id="16" name="TextBox 15"/>
          <p:cNvSpPr txBox="1"/>
          <p:nvPr/>
        </p:nvSpPr>
        <p:spPr>
          <a:xfrm>
            <a:off x="10058400" y="6446520"/>
            <a:ext cx="1554480" cy="274320"/>
          </a:xfrm>
          <a:prstGeom prst="rect">
            <a:avLst/>
          </a:prstGeom>
          <a:noFill/>
        </p:spPr>
        <p:txBody>
          <a:bodyPr wrap="square" lIns="0" rIns="0" tIns="0" bIns="0" anchor="t">
            <a:spAutoFit/>
          </a:bodyPr>
          <a:lstStyle/>
          <a:p>
            <a:pPr algn="r">
              <a:lnSpc>
                <a:spcPct val="115000"/>
              </a:lnSpc>
            </a:pPr>
            <a:r>
              <a:rPr sz="800" b="0" i="0" spc="100">
                <a:solidFill>
                  <a:srgbClr val="8A8070"/>
                </a:solidFill>
                <a:latin typeface="Courier New"/>
              </a:rPr>
              <a:t>08 / 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